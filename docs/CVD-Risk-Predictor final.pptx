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76" r:id="rId2"/>
    <p:sldId id="256" r:id="rId3"/>
    <p:sldId id="257" r:id="rId4"/>
    <p:sldId id="259" r:id="rId5"/>
    <p:sldId id="258" r:id="rId6"/>
    <p:sldId id="260" r:id="rId7"/>
    <p:sldId id="261" r:id="rId8"/>
    <p:sldId id="272" r:id="rId9"/>
    <p:sldId id="273" r:id="rId10"/>
    <p:sldId id="274" r:id="rId11"/>
    <p:sldId id="262" r:id="rId12"/>
    <p:sldId id="263" r:id="rId13"/>
    <p:sldId id="264" r:id="rId14"/>
    <p:sldId id="265" r:id="rId15"/>
    <p:sldId id="269" r:id="rId16"/>
    <p:sldId id="270" r:id="rId17"/>
  </p:sldIdLst>
  <p:sldSz cx="14630400" cy="8229600"/>
  <p:notesSz cx="8229600" cy="14630400"/>
  <p:embeddedFontLst>
    <p:embeddedFont>
      <p:font typeface="Bitter Medium" panose="020B0604020202020204" charset="0"/>
      <p:regular r:id="rId19"/>
    </p:embeddedFont>
    <p:embeddedFont>
      <p:font typeface="Open Sans" panose="020B0606030504020204" pitchFamily="34" charset="0"/>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E1C9"/>
    <a:srgbClr val="F9E8D3"/>
    <a:srgbClr val="F6E4CF"/>
    <a:srgbClr val="FCEFDD"/>
    <a:srgbClr val="E0BC93"/>
    <a:srgbClr val="FFF8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6EE3AB-8CA7-4EF5-84D6-C09FE401E07D}" v="57" dt="2026-05-04T16:23:08.1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144" y="6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8631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7D15B-6919-5DD1-2AD0-F0F4B07ABA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90960-65DA-2472-A4B9-14BBA3FB6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838BA-CC15-3B22-947B-4374287A0A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D7E27B-8C43-B9B4-ECF2-3B8162A51C17}"/>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661652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3.png"/><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3.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3.png"/><Relationship Id="rId5" Type="http://schemas.openxmlformats.org/officeDocument/2006/relationships/image" Target="../media/image30.svg"/><Relationship Id="rId4" Type="http://schemas.openxmlformats.org/officeDocument/2006/relationships/image" Target="../media/image29.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0928C-9AD0-2A05-5A97-D413A6B4DF1D}"/>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6BAC9B8-4A55-9439-851C-F90D04E1B54F}"/>
              </a:ext>
            </a:extLst>
          </p:cNvPr>
          <p:cNvSpPr/>
          <p:nvPr/>
        </p:nvSpPr>
        <p:spPr>
          <a:xfrm>
            <a:off x="8577754" y="646794"/>
            <a:ext cx="1125921" cy="349262"/>
          </a:xfrm>
          <a:prstGeom prst="roundRect">
            <a:avLst/>
          </a:prstGeom>
          <a:solidFill>
            <a:srgbClr val="F9E8D3"/>
          </a:solidFill>
          <a:ln>
            <a:solidFill>
              <a:srgbClr val="F9E8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9E8D3"/>
              </a:solidFill>
            </a:endParaRPr>
          </a:p>
        </p:txBody>
      </p:sp>
      <p:pic>
        <p:nvPicPr>
          <p:cNvPr id="4" name="Picture 3">
            <a:extLst>
              <a:ext uri="{FF2B5EF4-FFF2-40B4-BE49-F238E27FC236}">
                <a16:creationId xmlns:a16="http://schemas.microsoft.com/office/drawing/2014/main" id="{E98481E0-9540-047A-BDAB-B9F9D2345F36}"/>
              </a:ext>
            </a:extLst>
          </p:cNvPr>
          <p:cNvPicPr>
            <a:picLocks noChangeAspect="1"/>
          </p:cNvPicPr>
          <p:nvPr/>
        </p:nvPicPr>
        <p:blipFill>
          <a:blip r:embed="rId2"/>
          <a:stretch>
            <a:fillRect/>
          </a:stretch>
        </p:blipFill>
        <p:spPr>
          <a:xfrm>
            <a:off x="0" y="0"/>
            <a:ext cx="14630400" cy="8229600"/>
          </a:xfrm>
          <a:prstGeom prst="rect">
            <a:avLst/>
          </a:prstGeom>
        </p:spPr>
      </p:pic>
      <p:sp>
        <p:nvSpPr>
          <p:cNvPr id="2" name="Rectangle: Rounded Corners 1">
            <a:extLst>
              <a:ext uri="{FF2B5EF4-FFF2-40B4-BE49-F238E27FC236}">
                <a16:creationId xmlns:a16="http://schemas.microsoft.com/office/drawing/2014/main" id="{3706BA8F-EB51-3600-4F18-AEE0B5958F54}"/>
              </a:ext>
            </a:extLst>
          </p:cNvPr>
          <p:cNvSpPr/>
          <p:nvPr/>
        </p:nvSpPr>
        <p:spPr>
          <a:xfrm>
            <a:off x="6799498" y="472163"/>
            <a:ext cx="2230202" cy="349262"/>
          </a:xfrm>
          <a:prstGeom prst="roundRect">
            <a:avLst/>
          </a:prstGeom>
          <a:solidFill>
            <a:srgbClr val="F9E8D3"/>
          </a:solidFill>
          <a:ln>
            <a:solidFill>
              <a:srgbClr val="F9E8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9E8D3"/>
              </a:solidFill>
            </a:endParaRPr>
          </a:p>
        </p:txBody>
      </p:sp>
      <p:sp>
        <p:nvSpPr>
          <p:cNvPr id="12" name="Rectangle 11">
            <a:extLst>
              <a:ext uri="{FF2B5EF4-FFF2-40B4-BE49-F238E27FC236}">
                <a16:creationId xmlns:a16="http://schemas.microsoft.com/office/drawing/2014/main" id="{7BB18E70-6690-3CDE-640F-0C54F0AC2F7E}"/>
              </a:ext>
            </a:extLst>
          </p:cNvPr>
          <p:cNvSpPr/>
          <p:nvPr/>
        </p:nvSpPr>
        <p:spPr>
          <a:xfrm>
            <a:off x="0" y="48977"/>
            <a:ext cx="1295400" cy="846373"/>
          </a:xfrm>
          <a:prstGeom prst="rect">
            <a:avLst/>
          </a:prstGeom>
          <a:solidFill>
            <a:srgbClr val="E0BC93"/>
          </a:solidFill>
          <a:ln>
            <a:solidFill>
              <a:srgbClr val="E0BC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41327A39-A3B3-A9AC-A9BD-92F8EB45DE1D}"/>
              </a:ext>
            </a:extLst>
          </p:cNvPr>
          <p:cNvSpPr/>
          <p:nvPr/>
        </p:nvSpPr>
        <p:spPr>
          <a:xfrm>
            <a:off x="8483163" y="591737"/>
            <a:ext cx="1125921" cy="349262"/>
          </a:xfrm>
          <a:prstGeom prst="roundRect">
            <a:avLst/>
          </a:prstGeom>
          <a:solidFill>
            <a:srgbClr val="F9E8D3"/>
          </a:solidFill>
          <a:ln>
            <a:solidFill>
              <a:srgbClr val="F9E8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9E8D3"/>
              </a:solidFill>
            </a:endParaRPr>
          </a:p>
        </p:txBody>
      </p:sp>
      <p:sp>
        <p:nvSpPr>
          <p:cNvPr id="6" name="Oval 5">
            <a:extLst>
              <a:ext uri="{FF2B5EF4-FFF2-40B4-BE49-F238E27FC236}">
                <a16:creationId xmlns:a16="http://schemas.microsoft.com/office/drawing/2014/main" id="{28560EF6-4CA8-EEC1-C317-DABF4A049022}"/>
              </a:ext>
            </a:extLst>
          </p:cNvPr>
          <p:cNvSpPr/>
          <p:nvPr/>
        </p:nvSpPr>
        <p:spPr>
          <a:xfrm>
            <a:off x="9029700" y="6477000"/>
            <a:ext cx="371475" cy="333375"/>
          </a:xfrm>
          <a:prstGeom prst="ellipse">
            <a:avLst/>
          </a:prstGeom>
          <a:solidFill>
            <a:srgbClr val="F6E4CF"/>
          </a:solidFill>
          <a:ln>
            <a:solidFill>
              <a:srgbClr val="F6E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0FFBBE9B-B90C-1439-10F5-73E8523CB030}"/>
              </a:ext>
            </a:extLst>
          </p:cNvPr>
          <p:cNvPicPr>
            <a:picLocks noChangeAspect="1"/>
          </p:cNvPicPr>
          <p:nvPr/>
        </p:nvPicPr>
        <p:blipFill>
          <a:blip r:embed="rId3"/>
          <a:stretch>
            <a:fillRect/>
          </a:stretch>
        </p:blipFill>
        <p:spPr>
          <a:xfrm>
            <a:off x="111101" y="10276"/>
            <a:ext cx="1546017" cy="1088708"/>
          </a:xfrm>
          <a:prstGeom prst="rect">
            <a:avLst/>
          </a:prstGeom>
        </p:spPr>
      </p:pic>
      <p:sp>
        <p:nvSpPr>
          <p:cNvPr id="11" name="TextBox 10">
            <a:extLst>
              <a:ext uri="{FF2B5EF4-FFF2-40B4-BE49-F238E27FC236}">
                <a16:creationId xmlns:a16="http://schemas.microsoft.com/office/drawing/2014/main" id="{61262CB4-7C7A-BACB-4C15-CA13AC56F0E7}"/>
              </a:ext>
            </a:extLst>
          </p:cNvPr>
          <p:cNvSpPr txBox="1"/>
          <p:nvPr/>
        </p:nvSpPr>
        <p:spPr>
          <a:xfrm>
            <a:off x="-332394" y="279019"/>
            <a:ext cx="12804776" cy="698525"/>
          </a:xfrm>
          <a:prstGeom prst="rect">
            <a:avLst/>
          </a:prstGeom>
          <a:noFill/>
        </p:spPr>
        <p:txBody>
          <a:bodyPr>
            <a:spAutoFit/>
          </a:bodyPr>
          <a:lstStyle/>
          <a:p>
            <a:pPr marL="1885315" algn="ctr" eaLnBrk="1" fontAlgn="auto" hangingPunct="1">
              <a:lnSpc>
                <a:spcPts val="2520"/>
              </a:lnSpc>
              <a:spcBef>
                <a:spcPts val="340"/>
              </a:spcBef>
              <a:spcAft>
                <a:spcPts val="0"/>
              </a:spcAft>
              <a:defRPr/>
            </a:pPr>
            <a:r>
              <a:rPr lang="en-US" sz="4400" b="1" spc="-80" dirty="0">
                <a:latin typeface="Bitter Medium" panose="020B0604020202020204" charset="0"/>
                <a:ea typeface="Times New Roman" panose="02020603050405020304" pitchFamily="18" charset="0"/>
              </a:rPr>
              <a:t>   THE</a:t>
            </a:r>
            <a:r>
              <a:rPr lang="en-US" sz="4400" b="1" spc="-120" dirty="0">
                <a:latin typeface="Bitter Medium" panose="020B0604020202020204" charset="0"/>
                <a:ea typeface="Times New Roman" panose="02020603050405020304" pitchFamily="18" charset="0"/>
              </a:rPr>
              <a:t> </a:t>
            </a:r>
            <a:r>
              <a:rPr lang="en-US" sz="4400" b="1" spc="-80" dirty="0">
                <a:latin typeface="Bitter Medium" panose="020B0604020202020204" charset="0"/>
                <a:ea typeface="Times New Roman" panose="02020603050405020304" pitchFamily="18" charset="0"/>
              </a:rPr>
              <a:t>YENEPOYA</a:t>
            </a:r>
            <a:r>
              <a:rPr lang="en-US" sz="4400" b="1" spc="-85" dirty="0">
                <a:latin typeface="Bitter Medium" panose="020B0604020202020204" charset="0"/>
                <a:ea typeface="Times New Roman" panose="02020603050405020304" pitchFamily="18" charset="0"/>
              </a:rPr>
              <a:t> </a:t>
            </a:r>
            <a:r>
              <a:rPr lang="en-US" sz="4400" b="1" spc="-80" dirty="0">
                <a:latin typeface="Bitter Medium" panose="020B0604020202020204" charset="0"/>
                <a:ea typeface="Times New Roman" panose="02020603050405020304" pitchFamily="18" charset="0"/>
              </a:rPr>
              <a:t>COLLEGE</a:t>
            </a:r>
            <a:endParaRPr lang="en-US" sz="4400" b="1" dirty="0">
              <a:latin typeface="Bitter Medium" panose="020B0604020202020204" charset="0"/>
              <a:ea typeface="Times New Roman" panose="02020603050405020304" pitchFamily="18" charset="0"/>
            </a:endParaRPr>
          </a:p>
          <a:p>
            <a:pPr marL="2316480" algn="ctr" eaLnBrk="1" fontAlgn="auto" hangingPunct="1">
              <a:lnSpc>
                <a:spcPts val="1025"/>
              </a:lnSpc>
              <a:spcBef>
                <a:spcPts val="0"/>
              </a:spcBef>
              <a:spcAft>
                <a:spcPts val="0"/>
              </a:spcAft>
              <a:defRPr/>
            </a:pPr>
            <a:endParaRPr lang="en-US" spc="-20" dirty="0">
              <a:latin typeface="Bitter Medium" panose="020B0604020202020204" charset="0"/>
              <a:ea typeface="Times New Roman" panose="02020603050405020304" pitchFamily="18" charset="0"/>
            </a:endParaRPr>
          </a:p>
          <a:p>
            <a:pPr marL="2316480" algn="ctr" eaLnBrk="1" fontAlgn="auto" hangingPunct="1">
              <a:lnSpc>
                <a:spcPts val="1025"/>
              </a:lnSpc>
              <a:spcBef>
                <a:spcPts val="0"/>
              </a:spcBef>
              <a:spcAft>
                <a:spcPts val="0"/>
              </a:spcAft>
              <a:defRPr/>
            </a:pPr>
            <a:r>
              <a:rPr lang="en-US" sz="1600" spc="-20" dirty="0">
                <a:latin typeface="Bitter Medium" panose="020B0604020202020204" charset="0"/>
                <a:ea typeface="Times New Roman" panose="02020603050405020304" pitchFamily="18" charset="0"/>
              </a:rPr>
              <a:t>N.H.13,Thodar,MOODBIDRI-</a:t>
            </a:r>
            <a:r>
              <a:rPr lang="en-US" sz="1600" spc="-10" dirty="0">
                <a:latin typeface="Bitter Medium" panose="020B0604020202020204" charset="0"/>
                <a:ea typeface="Times New Roman" panose="02020603050405020304" pitchFamily="18" charset="0"/>
              </a:rPr>
              <a:t>574225,Mangalore,D.K</a:t>
            </a:r>
            <a:r>
              <a:rPr lang="en-US" spc="-10" dirty="0">
                <a:latin typeface="Bitter Medium" panose="020B0604020202020204" charset="0"/>
                <a:ea typeface="Times New Roman" panose="02020603050405020304" pitchFamily="18" charset="0"/>
              </a:rPr>
              <a:t>.            </a:t>
            </a:r>
            <a:endParaRPr lang="en-US" sz="2800" dirty="0">
              <a:latin typeface="Bitter Medium" panose="020B0604020202020204" charset="0"/>
              <a:ea typeface="Times New Roman" panose="02020603050405020304" pitchFamily="18" charset="0"/>
            </a:endParaRPr>
          </a:p>
        </p:txBody>
      </p:sp>
    </p:spTree>
    <p:extLst>
      <p:ext uri="{BB962C8B-B14F-4D97-AF65-F5344CB8AC3E}">
        <p14:creationId xmlns:p14="http://schemas.microsoft.com/office/powerpoint/2010/main" val="917576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3580" y="0"/>
            <a:ext cx="5486400" cy="8229600"/>
          </a:xfrm>
          <a:prstGeom prst="rect">
            <a:avLst/>
          </a:prstGeom>
        </p:spPr>
      </p:pic>
      <p:sp>
        <p:nvSpPr>
          <p:cNvPr id="3" name="Text 0"/>
          <p:cNvSpPr/>
          <p:nvPr/>
        </p:nvSpPr>
        <p:spPr>
          <a:xfrm>
            <a:off x="6239094" y="242792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rPr>
              <a:t>Introduction</a:t>
            </a:r>
            <a:endParaRPr lang="en-US" sz="4450" dirty="0"/>
          </a:p>
        </p:txBody>
      </p:sp>
      <p:sp>
        <p:nvSpPr>
          <p:cNvPr id="4" name="Text 1"/>
          <p:cNvSpPr/>
          <p:nvPr/>
        </p:nvSpPr>
        <p:spPr>
          <a:xfrm>
            <a:off x="6280190" y="3476863"/>
            <a:ext cx="7556421" cy="1088708"/>
          </a:xfrm>
          <a:prstGeom prst="rect">
            <a:avLst/>
          </a:prstGeom>
          <a:noFill/>
          <a:ln/>
        </p:spPr>
        <p:txBody>
          <a:bodyPr wrap="square" lIns="0" tIns="0" rIns="0" bIns="0" rtlCol="0" anchor="t"/>
          <a:lstStyle/>
          <a:p>
            <a:r>
              <a:rPr lang="en-US" sz="1600" dirty="0"/>
              <a:t>Cardiovascular disease is one of the leading causes of death worldwide, and it is often detected too late. Early identification of risk can help prevent serious health problems and save lives.</a:t>
            </a:r>
          </a:p>
          <a:p>
            <a:r>
              <a:rPr lang="en-US" sz="1600" dirty="0"/>
              <a:t>The CVD Risk Predictor is an AI-based system that analyzes patient data to provide quick and accurate risk assessments. It helps doctors and patients identify potential heart risks early and take the right steps for prevention.</a:t>
            </a:r>
          </a:p>
          <a:p>
            <a:pPr marL="0" indent="0" algn="l">
              <a:lnSpc>
                <a:spcPts val="2850"/>
              </a:lnSpc>
              <a:buNone/>
            </a:pPr>
            <a:endParaRPr lang="en-US" sz="1750" dirty="0"/>
          </a:p>
        </p:txBody>
      </p:sp>
      <p:sp>
        <p:nvSpPr>
          <p:cNvPr id="5" name="Text 2"/>
          <p:cNvSpPr/>
          <p:nvPr/>
        </p:nvSpPr>
        <p:spPr>
          <a:xfrm>
            <a:off x="6280190" y="4820722"/>
            <a:ext cx="75564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6" name="Text 3"/>
          <p:cNvSpPr/>
          <p:nvPr/>
        </p:nvSpPr>
        <p:spPr>
          <a:xfrm>
            <a:off x="6280190" y="5438775"/>
            <a:ext cx="75564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7" name="Rectangle 6">
            <a:extLst>
              <a:ext uri="{FF2B5EF4-FFF2-40B4-BE49-F238E27FC236}">
                <a16:creationId xmlns:a16="http://schemas.microsoft.com/office/drawing/2014/main" id="{1F6CEAA3-5825-B572-FED4-6430E7ED01C0}"/>
              </a:ext>
            </a:extLst>
          </p:cNvPr>
          <p:cNvSpPr/>
          <p:nvPr/>
        </p:nvSpPr>
        <p:spPr>
          <a:xfrm>
            <a:off x="12555020" y="7592602"/>
            <a:ext cx="1931542" cy="554805"/>
          </a:xfrm>
          <a:prstGeom prst="rect">
            <a:avLst/>
          </a:prstGeom>
          <a:solidFill>
            <a:srgbClr val="FFF8F0"/>
          </a:solidFill>
          <a:ln>
            <a:solidFill>
              <a:srgbClr val="FFF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D187C4B5-502F-FA31-42F8-F1A626D1C11E}"/>
              </a:ext>
            </a:extLst>
          </p:cNvPr>
          <p:cNvPicPr>
            <a:picLocks noChangeAspect="1"/>
          </p:cNvPicPr>
          <p:nvPr/>
        </p:nvPicPr>
        <p:blipFill>
          <a:blip r:embed="rId4"/>
          <a:stretch>
            <a:fillRect/>
          </a:stretch>
        </p:blipFill>
        <p:spPr>
          <a:xfrm>
            <a:off x="13007951" y="10276"/>
            <a:ext cx="1546017" cy="10887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247418"/>
            <a:ext cx="7541419"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Why Early Detection Matters</a:t>
            </a:r>
            <a:endParaRPr lang="en-US" sz="4450" dirty="0"/>
          </a:p>
        </p:txBody>
      </p:sp>
      <p:sp>
        <p:nvSpPr>
          <p:cNvPr id="4" name="Shape 1"/>
          <p:cNvSpPr/>
          <p:nvPr/>
        </p:nvSpPr>
        <p:spPr>
          <a:xfrm>
            <a:off x="6280190" y="2296358"/>
            <a:ext cx="3664744" cy="2773799"/>
          </a:xfrm>
          <a:prstGeom prst="roundRect">
            <a:avLst>
              <a:gd name="adj" fmla="val 3435"/>
            </a:avLst>
          </a:prstGeom>
          <a:solidFill>
            <a:srgbClr val="FCE2CF"/>
          </a:solidFill>
          <a:ln w="7620">
            <a:solidFill>
              <a:srgbClr val="E2C8B5"/>
            </a:solidFill>
            <a:prstDash val="solid"/>
          </a:ln>
        </p:spPr>
      </p:sp>
      <p:sp>
        <p:nvSpPr>
          <p:cNvPr id="5" name="Text 2"/>
          <p:cNvSpPr/>
          <p:nvPr/>
        </p:nvSpPr>
        <p:spPr>
          <a:xfrm>
            <a:off x="6514624" y="2530793"/>
            <a:ext cx="3082290"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Leading Cause of Death</a:t>
            </a:r>
            <a:endParaRPr lang="en-US" sz="2200" dirty="0"/>
          </a:p>
        </p:txBody>
      </p:sp>
      <p:sp>
        <p:nvSpPr>
          <p:cNvPr id="6" name="Text 3"/>
          <p:cNvSpPr/>
          <p:nvPr/>
        </p:nvSpPr>
        <p:spPr>
          <a:xfrm>
            <a:off x="6514624" y="3021211"/>
            <a:ext cx="3195876" cy="1814513"/>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Cardiovascular disease accounts for approximately 1 in 5 deaths in the U.S., making it the nation's most critical health challenge.</a:t>
            </a:r>
            <a:endParaRPr lang="en-US" sz="1750" dirty="0"/>
          </a:p>
        </p:txBody>
      </p:sp>
      <p:sp>
        <p:nvSpPr>
          <p:cNvPr id="7" name="Shape 4"/>
          <p:cNvSpPr/>
          <p:nvPr/>
        </p:nvSpPr>
        <p:spPr>
          <a:xfrm>
            <a:off x="10171748" y="2296358"/>
            <a:ext cx="3664863" cy="2773799"/>
          </a:xfrm>
          <a:prstGeom prst="roundRect">
            <a:avLst>
              <a:gd name="adj" fmla="val 3435"/>
            </a:avLst>
          </a:prstGeom>
          <a:solidFill>
            <a:srgbClr val="FCE2CF"/>
          </a:solidFill>
          <a:ln w="7620">
            <a:solidFill>
              <a:srgbClr val="E2C8B5"/>
            </a:solidFill>
            <a:prstDash val="solid"/>
          </a:ln>
        </p:spPr>
      </p:sp>
      <p:sp>
        <p:nvSpPr>
          <p:cNvPr id="8" name="Text 5"/>
          <p:cNvSpPr/>
          <p:nvPr/>
        </p:nvSpPr>
        <p:spPr>
          <a:xfrm>
            <a:off x="10406182" y="253079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The Detection Gap</a:t>
            </a:r>
            <a:endParaRPr lang="en-US" sz="2200" dirty="0"/>
          </a:p>
        </p:txBody>
      </p:sp>
      <p:sp>
        <p:nvSpPr>
          <p:cNvPr id="9" name="Text 6"/>
          <p:cNvSpPr/>
          <p:nvPr/>
        </p:nvSpPr>
        <p:spPr>
          <a:xfrm>
            <a:off x="10406182" y="3021211"/>
            <a:ext cx="3195995" cy="1814513"/>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Millions go undiagnosed until symptoms become severe — early identification dramatically improves patient outcomes and survival rates.</a:t>
            </a:r>
            <a:endParaRPr lang="en-US" sz="1750" dirty="0"/>
          </a:p>
        </p:txBody>
      </p:sp>
      <p:sp>
        <p:nvSpPr>
          <p:cNvPr id="10" name="Shape 7"/>
          <p:cNvSpPr/>
          <p:nvPr/>
        </p:nvSpPr>
        <p:spPr>
          <a:xfrm>
            <a:off x="6280190" y="5296972"/>
            <a:ext cx="7556421" cy="1685092"/>
          </a:xfrm>
          <a:prstGeom prst="roundRect">
            <a:avLst>
              <a:gd name="adj" fmla="val 5654"/>
            </a:avLst>
          </a:prstGeom>
          <a:solidFill>
            <a:srgbClr val="FCE2CF"/>
          </a:solidFill>
          <a:ln w="7620">
            <a:solidFill>
              <a:srgbClr val="E2C8B5"/>
            </a:solidFill>
            <a:prstDash val="solid"/>
          </a:ln>
        </p:spPr>
      </p:sp>
      <p:sp>
        <p:nvSpPr>
          <p:cNvPr id="11" name="Text 8"/>
          <p:cNvSpPr/>
          <p:nvPr/>
        </p:nvSpPr>
        <p:spPr>
          <a:xfrm>
            <a:off x="6514624" y="5531406"/>
            <a:ext cx="301430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AI as a Force Multiplier</a:t>
            </a:r>
            <a:endParaRPr lang="en-US" sz="2200" dirty="0"/>
          </a:p>
        </p:txBody>
      </p:sp>
      <p:sp>
        <p:nvSpPr>
          <p:cNvPr id="12" name="Text 9"/>
          <p:cNvSpPr/>
          <p:nvPr/>
        </p:nvSpPr>
        <p:spPr>
          <a:xfrm>
            <a:off x="6514624" y="6021824"/>
            <a:ext cx="7087553"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Machine learning models can analyze complex patient data in seconds, enabling faster, more consistent risk predictions at scale.</a:t>
            </a:r>
            <a:endParaRPr lang="en-US" sz="1750" dirty="0"/>
          </a:p>
        </p:txBody>
      </p:sp>
      <p:sp>
        <p:nvSpPr>
          <p:cNvPr id="13" name="Rectangle 12">
            <a:extLst>
              <a:ext uri="{FF2B5EF4-FFF2-40B4-BE49-F238E27FC236}">
                <a16:creationId xmlns:a16="http://schemas.microsoft.com/office/drawing/2014/main" id="{57987FFF-4521-15E7-B1E2-0A4A5598AE88}"/>
              </a:ext>
            </a:extLst>
          </p:cNvPr>
          <p:cNvSpPr/>
          <p:nvPr/>
        </p:nvSpPr>
        <p:spPr>
          <a:xfrm>
            <a:off x="12555020" y="7592602"/>
            <a:ext cx="1931542" cy="554805"/>
          </a:xfrm>
          <a:prstGeom prst="rect">
            <a:avLst/>
          </a:prstGeom>
          <a:solidFill>
            <a:srgbClr val="FFF8F0"/>
          </a:solidFill>
          <a:ln>
            <a:solidFill>
              <a:srgbClr val="FFF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8F2E2E7F-6DD3-8F42-45B7-0315AE7ADADE}"/>
              </a:ext>
            </a:extLst>
          </p:cNvPr>
          <p:cNvPicPr>
            <a:picLocks noChangeAspect="1"/>
          </p:cNvPicPr>
          <p:nvPr/>
        </p:nvPicPr>
        <p:blipFill>
          <a:blip r:embed="rId4"/>
          <a:stretch>
            <a:fillRect/>
          </a:stretch>
        </p:blipFill>
        <p:spPr>
          <a:xfrm>
            <a:off x="13007951" y="10276"/>
            <a:ext cx="1546017" cy="108870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012513"/>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Project Objectives</a:t>
            </a:r>
            <a:endParaRPr lang="en-US" sz="44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790" y="3174921"/>
            <a:ext cx="453628" cy="453628"/>
          </a:xfrm>
          <a:prstGeom prst="rect">
            <a:avLst/>
          </a:prstGeom>
        </p:spPr>
      </p:pic>
      <p:sp>
        <p:nvSpPr>
          <p:cNvPr id="4" name="Text 1"/>
          <p:cNvSpPr/>
          <p:nvPr/>
        </p:nvSpPr>
        <p:spPr>
          <a:xfrm>
            <a:off x="793790" y="391203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Accurate Prediction</a:t>
            </a:r>
            <a:endParaRPr lang="en-US" sz="2200" dirty="0"/>
          </a:p>
        </p:txBody>
      </p:sp>
      <p:sp>
        <p:nvSpPr>
          <p:cNvPr id="5" name="Text 2"/>
          <p:cNvSpPr/>
          <p:nvPr/>
        </p:nvSpPr>
        <p:spPr>
          <a:xfrm>
            <a:off x="793790" y="4402455"/>
            <a:ext cx="4158615" cy="1814513"/>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Leverage a trained ONNX machine learning model to classify cardiovascular risk with clinically meaningful precision across diverse patient profiles.</a:t>
            </a:r>
            <a:endParaRPr lang="en-US" sz="17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5893" y="3174921"/>
            <a:ext cx="453628" cy="453628"/>
          </a:xfrm>
          <a:prstGeom prst="rect">
            <a:avLst/>
          </a:prstGeom>
        </p:spPr>
      </p:pic>
      <p:sp>
        <p:nvSpPr>
          <p:cNvPr id="7" name="Text 3"/>
          <p:cNvSpPr/>
          <p:nvPr/>
        </p:nvSpPr>
        <p:spPr>
          <a:xfrm>
            <a:off x="5235893" y="391203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Real-Time Results</a:t>
            </a:r>
            <a:endParaRPr lang="en-US" sz="2200" dirty="0"/>
          </a:p>
        </p:txBody>
      </p:sp>
      <p:sp>
        <p:nvSpPr>
          <p:cNvPr id="8" name="Text 4"/>
          <p:cNvSpPr/>
          <p:nvPr/>
        </p:nvSpPr>
        <p:spPr>
          <a:xfrm>
            <a:off x="5235893" y="4402455"/>
            <a:ext cx="4158615" cy="1451610"/>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Deliver risk assessments within seconds of data submission — no waiting, no delays — enabling immediate clinical decision-making.</a:t>
            </a:r>
            <a:endParaRPr lang="en-US" sz="17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77995" y="3174921"/>
            <a:ext cx="453628" cy="453628"/>
          </a:xfrm>
          <a:prstGeom prst="rect">
            <a:avLst/>
          </a:prstGeom>
        </p:spPr>
      </p:pic>
      <p:sp>
        <p:nvSpPr>
          <p:cNvPr id="10" name="Text 5"/>
          <p:cNvSpPr/>
          <p:nvPr/>
        </p:nvSpPr>
        <p:spPr>
          <a:xfrm>
            <a:off x="9677995" y="3912037"/>
            <a:ext cx="2879884"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User-Friendly System</a:t>
            </a:r>
            <a:endParaRPr lang="en-US" sz="2200" dirty="0"/>
          </a:p>
        </p:txBody>
      </p:sp>
      <p:sp>
        <p:nvSpPr>
          <p:cNvPr id="11" name="Text 6"/>
          <p:cNvSpPr/>
          <p:nvPr/>
        </p:nvSpPr>
        <p:spPr>
          <a:xfrm>
            <a:off x="9677995" y="4402455"/>
            <a:ext cx="4158615" cy="1451610"/>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Design an intuitive interface that clinicians and patients alike can navigate with minimal training, reducing friction at every step.</a:t>
            </a:r>
            <a:endParaRPr lang="en-US" sz="1750" dirty="0"/>
          </a:p>
        </p:txBody>
      </p:sp>
      <p:sp>
        <p:nvSpPr>
          <p:cNvPr id="12" name="Rectangle 11">
            <a:extLst>
              <a:ext uri="{FF2B5EF4-FFF2-40B4-BE49-F238E27FC236}">
                <a16:creationId xmlns:a16="http://schemas.microsoft.com/office/drawing/2014/main" id="{5803DC96-E362-739E-1772-8EDA41471118}"/>
              </a:ext>
            </a:extLst>
          </p:cNvPr>
          <p:cNvSpPr/>
          <p:nvPr/>
        </p:nvSpPr>
        <p:spPr>
          <a:xfrm>
            <a:off x="12555020" y="7592602"/>
            <a:ext cx="1931542" cy="554805"/>
          </a:xfrm>
          <a:prstGeom prst="rect">
            <a:avLst/>
          </a:prstGeom>
          <a:solidFill>
            <a:srgbClr val="FFF8F0"/>
          </a:solidFill>
          <a:ln>
            <a:solidFill>
              <a:srgbClr val="FFF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AA23FECA-F1CB-DABB-E0B3-87E6829FB97C}"/>
              </a:ext>
            </a:extLst>
          </p:cNvPr>
          <p:cNvPicPr>
            <a:picLocks noChangeAspect="1"/>
          </p:cNvPicPr>
          <p:nvPr/>
        </p:nvPicPr>
        <p:blipFill>
          <a:blip r:embed="rId6"/>
          <a:stretch>
            <a:fillRect/>
          </a:stretch>
        </p:blipFill>
        <p:spPr>
          <a:xfrm>
            <a:off x="13007951" y="10276"/>
            <a:ext cx="1546017" cy="108870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93790" y="2344103"/>
            <a:ext cx="6249353" cy="3541276"/>
          </a:xfrm>
          <a:prstGeom prst="rect">
            <a:avLst/>
          </a:prstGeom>
        </p:spPr>
      </p:pic>
      <p:sp>
        <p:nvSpPr>
          <p:cNvPr id="3" name="Shape 0"/>
          <p:cNvSpPr/>
          <p:nvPr/>
        </p:nvSpPr>
        <p:spPr>
          <a:xfrm>
            <a:off x="9548932" y="972145"/>
            <a:ext cx="1629847" cy="292418"/>
          </a:xfrm>
          <a:prstGeom prst="roundRect">
            <a:avLst>
              <a:gd name="adj" fmla="val 19548"/>
            </a:avLst>
          </a:prstGeom>
          <a:solidFill>
            <a:srgbClr val="FCE2CF"/>
          </a:solidFill>
          <a:ln/>
        </p:spPr>
      </p:sp>
      <p:sp>
        <p:nvSpPr>
          <p:cNvPr id="4" name="Text 1"/>
          <p:cNvSpPr/>
          <p:nvPr/>
        </p:nvSpPr>
        <p:spPr>
          <a:xfrm>
            <a:off x="9650968" y="1023104"/>
            <a:ext cx="1425773" cy="190500"/>
          </a:xfrm>
          <a:prstGeom prst="rect">
            <a:avLst/>
          </a:prstGeom>
          <a:noFill/>
          <a:ln/>
        </p:spPr>
        <p:txBody>
          <a:bodyPr wrap="none" lIns="0" tIns="0" rIns="0" bIns="0" rtlCol="0" anchor="t"/>
          <a:lstStyle/>
          <a:p>
            <a:pPr marL="0" indent="0" algn="l">
              <a:lnSpc>
                <a:spcPts val="1500"/>
              </a:lnSpc>
              <a:buNone/>
            </a:pPr>
            <a:r>
              <a:rPr lang="en-US" sz="1050" dirty="0">
                <a:solidFill>
                  <a:srgbClr val="2B2E3C"/>
                </a:solidFill>
                <a:latin typeface="Open Sans" pitchFamily="34" charset="0"/>
                <a:ea typeface="Open Sans" pitchFamily="34" charset="-122"/>
                <a:cs typeface="Open Sans" pitchFamily="34" charset="-120"/>
              </a:rPr>
              <a:t>PROBLEM STATEMENT</a:t>
            </a:r>
            <a:endParaRPr lang="en-US" sz="1050" dirty="0"/>
          </a:p>
        </p:txBody>
      </p:sp>
      <p:sp>
        <p:nvSpPr>
          <p:cNvPr id="5" name="Text 2"/>
          <p:cNvSpPr/>
          <p:nvPr/>
        </p:nvSpPr>
        <p:spPr>
          <a:xfrm>
            <a:off x="9548932" y="1315522"/>
            <a:ext cx="4295180" cy="1063228"/>
          </a:xfrm>
          <a:prstGeom prst="rect">
            <a:avLst/>
          </a:prstGeom>
          <a:noFill/>
          <a:ln/>
        </p:spPr>
        <p:txBody>
          <a:bodyPr wrap="square" lIns="0" tIns="0" rIns="0" bIns="0" rtlCol="0" anchor="t"/>
          <a:lstStyle/>
          <a:p>
            <a:pPr marL="0" indent="0" algn="l">
              <a:lnSpc>
                <a:spcPts val="4150"/>
              </a:lnSpc>
              <a:buNone/>
            </a:pPr>
            <a:r>
              <a:rPr lang="en-US" sz="3300" dirty="0">
                <a:solidFill>
                  <a:srgbClr val="2C3F42"/>
                </a:solidFill>
                <a:latin typeface="Bitter Medium" pitchFamily="34" charset="0"/>
                <a:ea typeface="Bitter Medium" pitchFamily="34" charset="-122"/>
                <a:cs typeface="Bitter Medium" pitchFamily="34" charset="-120"/>
              </a:rPr>
              <a:t>The Barriers to Timely Care</a:t>
            </a:r>
            <a:endParaRPr lang="en-US" sz="3300" dirty="0"/>
          </a:p>
        </p:txBody>
      </p:sp>
      <p:sp>
        <p:nvSpPr>
          <p:cNvPr id="6" name="Shape 3"/>
          <p:cNvSpPr/>
          <p:nvPr/>
        </p:nvSpPr>
        <p:spPr>
          <a:xfrm>
            <a:off x="9548932" y="2522220"/>
            <a:ext cx="4295180" cy="1493401"/>
          </a:xfrm>
          <a:prstGeom prst="roundRect">
            <a:avLst>
              <a:gd name="adj" fmla="val 7348"/>
            </a:avLst>
          </a:prstGeom>
          <a:solidFill>
            <a:srgbClr val="FFF8F0"/>
          </a:solidFill>
          <a:ln w="22860">
            <a:solidFill>
              <a:srgbClr val="E2C8B5"/>
            </a:solidFill>
            <a:prstDash val="solid"/>
          </a:ln>
        </p:spPr>
      </p:sp>
      <p:sp>
        <p:nvSpPr>
          <p:cNvPr id="7" name="Shape 4"/>
          <p:cNvSpPr/>
          <p:nvPr/>
        </p:nvSpPr>
        <p:spPr>
          <a:xfrm>
            <a:off x="9526072" y="2522220"/>
            <a:ext cx="91440" cy="1493401"/>
          </a:xfrm>
          <a:prstGeom prst="roundRect">
            <a:avLst>
              <a:gd name="adj" fmla="val 78140"/>
            </a:avLst>
          </a:prstGeom>
          <a:solidFill>
            <a:srgbClr val="D2600F"/>
          </a:solidFill>
          <a:ln/>
        </p:spPr>
      </p:sp>
      <p:sp>
        <p:nvSpPr>
          <p:cNvPr id="8" name="Text 5"/>
          <p:cNvSpPr/>
          <p:nvPr/>
        </p:nvSpPr>
        <p:spPr>
          <a:xfrm>
            <a:off x="9810393" y="2715101"/>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2B2E3C"/>
                </a:solidFill>
                <a:latin typeface="Bitter Medium" pitchFamily="34" charset="0"/>
                <a:ea typeface="Bitter Medium" pitchFamily="34" charset="-122"/>
                <a:cs typeface="Bitter Medium" pitchFamily="34" charset="-120"/>
              </a:rPr>
              <a:t>Late Diagnosis</a:t>
            </a:r>
            <a:endParaRPr lang="en-US" sz="1650" dirty="0"/>
          </a:p>
        </p:txBody>
      </p:sp>
      <p:sp>
        <p:nvSpPr>
          <p:cNvPr id="9" name="Text 6"/>
          <p:cNvSpPr/>
          <p:nvPr/>
        </p:nvSpPr>
        <p:spPr>
          <a:xfrm>
            <a:off x="9810393" y="3108365"/>
            <a:ext cx="3840837" cy="714375"/>
          </a:xfrm>
          <a:prstGeom prst="rect">
            <a:avLst/>
          </a:prstGeom>
          <a:noFill/>
          <a:ln/>
        </p:spPr>
        <p:txBody>
          <a:bodyPr wrap="square" lIns="0" tIns="0" rIns="0" bIns="0" rtlCol="0" anchor="t"/>
          <a:lstStyle/>
          <a:p>
            <a:pPr marL="0" indent="0" algn="l">
              <a:lnSpc>
                <a:spcPts val="1850"/>
              </a:lnSpc>
              <a:buNone/>
            </a:pPr>
            <a:r>
              <a:rPr lang="en-US" sz="1300" dirty="0">
                <a:solidFill>
                  <a:srgbClr val="2B2E3C"/>
                </a:solidFill>
                <a:latin typeface="Open Sans" pitchFamily="34" charset="0"/>
                <a:ea typeface="Open Sans" pitchFamily="34" charset="-122"/>
                <a:cs typeface="Open Sans" pitchFamily="34" charset="-120"/>
              </a:rPr>
              <a:t>CVD is frequently identified only after a critical event, leaving little time for preventive intervention.</a:t>
            </a:r>
            <a:endParaRPr lang="en-US" sz="1300" dirty="0"/>
          </a:p>
        </p:txBody>
      </p:sp>
      <p:sp>
        <p:nvSpPr>
          <p:cNvPr id="10" name="Shape 7"/>
          <p:cNvSpPr/>
          <p:nvPr/>
        </p:nvSpPr>
        <p:spPr>
          <a:xfrm>
            <a:off x="9548932" y="4143137"/>
            <a:ext cx="4295180" cy="1493401"/>
          </a:xfrm>
          <a:prstGeom prst="roundRect">
            <a:avLst>
              <a:gd name="adj" fmla="val 7348"/>
            </a:avLst>
          </a:prstGeom>
          <a:solidFill>
            <a:srgbClr val="FFF8F0"/>
          </a:solidFill>
          <a:ln w="22860">
            <a:solidFill>
              <a:srgbClr val="E2C8B5"/>
            </a:solidFill>
            <a:prstDash val="solid"/>
          </a:ln>
        </p:spPr>
      </p:sp>
      <p:sp>
        <p:nvSpPr>
          <p:cNvPr id="11" name="Shape 8"/>
          <p:cNvSpPr/>
          <p:nvPr/>
        </p:nvSpPr>
        <p:spPr>
          <a:xfrm>
            <a:off x="9526072" y="4143137"/>
            <a:ext cx="91440" cy="1493401"/>
          </a:xfrm>
          <a:prstGeom prst="roundRect">
            <a:avLst>
              <a:gd name="adj" fmla="val 78140"/>
            </a:avLst>
          </a:prstGeom>
          <a:solidFill>
            <a:srgbClr val="D2600F"/>
          </a:solidFill>
          <a:ln/>
        </p:spPr>
      </p:sp>
      <p:sp>
        <p:nvSpPr>
          <p:cNvPr id="12" name="Text 9"/>
          <p:cNvSpPr/>
          <p:nvPr/>
        </p:nvSpPr>
        <p:spPr>
          <a:xfrm>
            <a:off x="9810393" y="4336018"/>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2B2E3C"/>
                </a:solidFill>
                <a:latin typeface="Bitter Medium" pitchFamily="34" charset="0"/>
                <a:ea typeface="Bitter Medium" pitchFamily="34" charset="-122"/>
                <a:cs typeface="Bitter Medium" pitchFamily="34" charset="-120"/>
              </a:rPr>
              <a:t>High-Cost Testing</a:t>
            </a:r>
            <a:endParaRPr lang="en-US" sz="1650" dirty="0"/>
          </a:p>
        </p:txBody>
      </p:sp>
      <p:sp>
        <p:nvSpPr>
          <p:cNvPr id="13" name="Text 10"/>
          <p:cNvSpPr/>
          <p:nvPr/>
        </p:nvSpPr>
        <p:spPr>
          <a:xfrm>
            <a:off x="9810393" y="4729282"/>
            <a:ext cx="3840837" cy="714375"/>
          </a:xfrm>
          <a:prstGeom prst="rect">
            <a:avLst/>
          </a:prstGeom>
          <a:noFill/>
          <a:ln/>
        </p:spPr>
        <p:txBody>
          <a:bodyPr wrap="square" lIns="0" tIns="0" rIns="0" bIns="0" rtlCol="0" anchor="t"/>
          <a:lstStyle/>
          <a:p>
            <a:pPr marL="0" indent="0" algn="l">
              <a:lnSpc>
                <a:spcPts val="1850"/>
              </a:lnSpc>
              <a:buNone/>
            </a:pPr>
            <a:r>
              <a:rPr lang="en-US" sz="1300" dirty="0">
                <a:solidFill>
                  <a:srgbClr val="2B2E3C"/>
                </a:solidFill>
                <a:latin typeface="Open Sans" pitchFamily="34" charset="0"/>
                <a:ea typeface="Open Sans" pitchFamily="34" charset="-122"/>
                <a:cs typeface="Open Sans" pitchFamily="34" charset="-120"/>
              </a:rPr>
              <a:t>Imaging, stress tests, and specialist consultations are expensive and inaccessible for many patients.</a:t>
            </a:r>
            <a:endParaRPr lang="en-US" sz="1300" dirty="0"/>
          </a:p>
        </p:txBody>
      </p:sp>
      <p:sp>
        <p:nvSpPr>
          <p:cNvPr id="14" name="Shape 11"/>
          <p:cNvSpPr/>
          <p:nvPr/>
        </p:nvSpPr>
        <p:spPr>
          <a:xfrm>
            <a:off x="9548932" y="5764054"/>
            <a:ext cx="4295180" cy="1493401"/>
          </a:xfrm>
          <a:prstGeom prst="roundRect">
            <a:avLst>
              <a:gd name="adj" fmla="val 7348"/>
            </a:avLst>
          </a:prstGeom>
          <a:solidFill>
            <a:srgbClr val="FFF8F0"/>
          </a:solidFill>
          <a:ln w="22860">
            <a:solidFill>
              <a:srgbClr val="E2C8B5"/>
            </a:solidFill>
            <a:prstDash val="solid"/>
          </a:ln>
        </p:spPr>
      </p:sp>
      <p:sp>
        <p:nvSpPr>
          <p:cNvPr id="15" name="Shape 12"/>
          <p:cNvSpPr/>
          <p:nvPr/>
        </p:nvSpPr>
        <p:spPr>
          <a:xfrm>
            <a:off x="9526072" y="5764054"/>
            <a:ext cx="91440" cy="1493401"/>
          </a:xfrm>
          <a:prstGeom prst="roundRect">
            <a:avLst>
              <a:gd name="adj" fmla="val 78140"/>
            </a:avLst>
          </a:prstGeom>
          <a:solidFill>
            <a:srgbClr val="D2600F"/>
          </a:solidFill>
          <a:ln/>
        </p:spPr>
      </p:sp>
      <p:sp>
        <p:nvSpPr>
          <p:cNvPr id="16" name="Text 13"/>
          <p:cNvSpPr/>
          <p:nvPr/>
        </p:nvSpPr>
        <p:spPr>
          <a:xfrm>
            <a:off x="9810393" y="5956935"/>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2B2E3C"/>
                </a:solidFill>
                <a:latin typeface="Bitter Medium" pitchFamily="34" charset="0"/>
                <a:ea typeface="Bitter Medium" pitchFamily="34" charset="-122"/>
                <a:cs typeface="Bitter Medium" pitchFamily="34" charset="-120"/>
              </a:rPr>
              <a:t>Limited Access</a:t>
            </a:r>
            <a:endParaRPr lang="en-US" sz="1650" dirty="0"/>
          </a:p>
        </p:txBody>
      </p:sp>
      <p:sp>
        <p:nvSpPr>
          <p:cNvPr id="17" name="Text 14"/>
          <p:cNvSpPr/>
          <p:nvPr/>
        </p:nvSpPr>
        <p:spPr>
          <a:xfrm>
            <a:off x="9810393" y="6350198"/>
            <a:ext cx="3840837" cy="714375"/>
          </a:xfrm>
          <a:prstGeom prst="rect">
            <a:avLst/>
          </a:prstGeom>
          <a:noFill/>
          <a:ln/>
        </p:spPr>
        <p:txBody>
          <a:bodyPr wrap="square" lIns="0" tIns="0" rIns="0" bIns="0" rtlCol="0" anchor="t"/>
          <a:lstStyle/>
          <a:p>
            <a:pPr marL="0" indent="0" algn="l">
              <a:lnSpc>
                <a:spcPts val="1850"/>
              </a:lnSpc>
              <a:buNone/>
            </a:pPr>
            <a:r>
              <a:rPr lang="en-US" sz="1300" dirty="0">
                <a:solidFill>
                  <a:srgbClr val="2B2E3C"/>
                </a:solidFill>
                <a:latin typeface="Open Sans" pitchFamily="34" charset="0"/>
                <a:ea typeface="Open Sans" pitchFamily="34" charset="-122"/>
                <a:cs typeface="Open Sans" pitchFamily="34" charset="-120"/>
              </a:rPr>
              <a:t>Rural and underserved communities lack the infrastructure needed for timely cardiovascular screening.</a:t>
            </a:r>
            <a:endParaRPr lang="en-US" sz="1300" dirty="0"/>
          </a:p>
        </p:txBody>
      </p:sp>
      <p:sp>
        <p:nvSpPr>
          <p:cNvPr id="18" name="Rectangle 17">
            <a:extLst>
              <a:ext uri="{FF2B5EF4-FFF2-40B4-BE49-F238E27FC236}">
                <a16:creationId xmlns:a16="http://schemas.microsoft.com/office/drawing/2014/main" id="{8FCB1BD0-232E-3837-0F6E-0C3591CA0908}"/>
              </a:ext>
            </a:extLst>
          </p:cNvPr>
          <p:cNvSpPr/>
          <p:nvPr/>
        </p:nvSpPr>
        <p:spPr>
          <a:xfrm>
            <a:off x="12555020" y="7592602"/>
            <a:ext cx="1931542" cy="554805"/>
          </a:xfrm>
          <a:prstGeom prst="rect">
            <a:avLst/>
          </a:prstGeom>
          <a:solidFill>
            <a:srgbClr val="FFF8F0"/>
          </a:solidFill>
          <a:ln>
            <a:solidFill>
              <a:srgbClr val="FFF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9" name="Picture 18">
            <a:extLst>
              <a:ext uri="{FF2B5EF4-FFF2-40B4-BE49-F238E27FC236}">
                <a16:creationId xmlns:a16="http://schemas.microsoft.com/office/drawing/2014/main" id="{238E5C19-3A3C-07F2-D164-472A839CDC32}"/>
              </a:ext>
            </a:extLst>
          </p:cNvPr>
          <p:cNvPicPr>
            <a:picLocks noChangeAspect="1"/>
          </p:cNvPicPr>
          <p:nvPr/>
        </p:nvPicPr>
        <p:blipFill>
          <a:blip r:embed="rId4"/>
          <a:stretch>
            <a:fillRect/>
          </a:stretch>
        </p:blipFill>
        <p:spPr>
          <a:xfrm>
            <a:off x="13007951" y="10276"/>
            <a:ext cx="1546017" cy="10887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187513"/>
            <a:ext cx="4820007" cy="602456"/>
          </a:xfrm>
          <a:prstGeom prst="rect">
            <a:avLst/>
          </a:prstGeom>
          <a:noFill/>
          <a:ln/>
        </p:spPr>
        <p:txBody>
          <a:bodyPr wrap="none" lIns="0" tIns="0" rIns="0" bIns="0" rtlCol="0" anchor="t"/>
          <a:lstStyle/>
          <a:p>
            <a:pPr marL="0" indent="0" algn="l">
              <a:lnSpc>
                <a:spcPts val="4700"/>
              </a:lnSpc>
              <a:buNone/>
            </a:pPr>
            <a:r>
              <a:rPr lang="en-US" sz="3750" dirty="0">
                <a:solidFill>
                  <a:srgbClr val="2C3F42"/>
                </a:solidFill>
                <a:latin typeface="Bitter Medium" pitchFamily="34" charset="0"/>
                <a:ea typeface="Bitter Medium" pitchFamily="34" charset="-122"/>
                <a:cs typeface="Bitter Medium" pitchFamily="34" charset="-120"/>
              </a:rPr>
              <a:t>System Architecture</a:t>
            </a:r>
            <a:endParaRPr lang="en-US" sz="3750" dirty="0"/>
          </a:p>
        </p:txBody>
      </p:sp>
      <p:pic>
        <p:nvPicPr>
          <p:cNvPr id="3" name="Image 0" descr="preencoded.png"/>
          <p:cNvPicPr>
            <a:picLocks noChangeAspect="1"/>
          </p:cNvPicPr>
          <p:nvPr/>
        </p:nvPicPr>
        <p:blipFill>
          <a:blip r:embed="rId3"/>
          <a:stretch>
            <a:fillRect/>
          </a:stretch>
        </p:blipFill>
        <p:spPr>
          <a:xfrm>
            <a:off x="1772007" y="1665565"/>
            <a:ext cx="11086386" cy="5073610"/>
          </a:xfrm>
          <a:prstGeom prst="rect">
            <a:avLst/>
          </a:prstGeom>
        </p:spPr>
      </p:pic>
      <p:sp>
        <p:nvSpPr>
          <p:cNvPr id="4" name="Text 1"/>
          <p:cNvSpPr/>
          <p:nvPr/>
        </p:nvSpPr>
        <p:spPr>
          <a:xfrm>
            <a:off x="9892819" y="2327008"/>
            <a:ext cx="2452412" cy="306552"/>
          </a:xfrm>
          <a:prstGeom prst="rect">
            <a:avLst/>
          </a:prstGeom>
          <a:noFill/>
          <a:ln/>
        </p:spPr>
        <p:txBody>
          <a:bodyPr wrap="none" lIns="0" tIns="0" rIns="0" bIns="0" rtlCol="0" anchor="t"/>
          <a:lstStyle/>
          <a:p>
            <a:pPr marL="0" indent="0" algn="l">
              <a:lnSpc>
                <a:spcPts val="2400"/>
              </a:lnSpc>
              <a:buNone/>
            </a:pPr>
            <a:r>
              <a:rPr lang="en-US" sz="1900" dirty="0">
                <a:solidFill>
                  <a:srgbClr val="2B2E3C"/>
                </a:solidFill>
                <a:latin typeface="Bitter Medium" pitchFamily="34" charset="0"/>
                <a:ea typeface="Bitter Medium" pitchFamily="34" charset="-122"/>
                <a:cs typeface="Bitter Medium" pitchFamily="34" charset="-120"/>
              </a:rPr>
              <a:t>Backend &amp; AI</a:t>
            </a:r>
            <a:endParaRPr lang="en-US" sz="1900" dirty="0"/>
          </a:p>
        </p:txBody>
      </p:sp>
      <p:sp>
        <p:nvSpPr>
          <p:cNvPr id="5" name="Text 2"/>
          <p:cNvSpPr/>
          <p:nvPr/>
        </p:nvSpPr>
        <p:spPr>
          <a:xfrm>
            <a:off x="9892819" y="2720756"/>
            <a:ext cx="2703103" cy="453696"/>
          </a:xfrm>
          <a:prstGeom prst="rect">
            <a:avLst/>
          </a:prstGeom>
          <a:noFill/>
          <a:ln/>
        </p:spPr>
        <p:txBody>
          <a:bodyPr wrap="square" lIns="0" tIns="0" rIns="0" bIns="0" rtlCol="0" anchor="t"/>
          <a:lstStyle/>
          <a:p>
            <a:pPr marL="0" indent="0" algn="l">
              <a:lnSpc>
                <a:spcPts val="1750"/>
              </a:lnSpc>
              <a:buNone/>
            </a:pPr>
            <a:r>
              <a:rPr lang="en-US" sz="1500" dirty="0">
                <a:solidFill>
                  <a:srgbClr val="2B2E3C"/>
                </a:solidFill>
                <a:latin typeface="Open Sans" pitchFamily="34" charset="0"/>
                <a:ea typeface="Open Sans" pitchFamily="34" charset="-122"/>
                <a:cs typeface="Open Sans" pitchFamily="34" charset="-120"/>
              </a:rPr>
              <a:t>Node.js/Express API and ONNX risk inference</a:t>
            </a:r>
            <a:endParaRPr lang="en-US" sz="1500" dirty="0"/>
          </a:p>
        </p:txBody>
      </p:sp>
      <p:sp>
        <p:nvSpPr>
          <p:cNvPr id="6" name="Text 3"/>
          <p:cNvSpPr/>
          <p:nvPr/>
        </p:nvSpPr>
        <p:spPr>
          <a:xfrm>
            <a:off x="2066900" y="3994648"/>
            <a:ext cx="2452412" cy="306552"/>
          </a:xfrm>
          <a:prstGeom prst="rect">
            <a:avLst/>
          </a:prstGeom>
          <a:noFill/>
          <a:ln/>
        </p:spPr>
        <p:txBody>
          <a:bodyPr wrap="none" lIns="0" tIns="0" rIns="0" bIns="0" rtlCol="0" anchor="t"/>
          <a:lstStyle/>
          <a:p>
            <a:pPr marL="0" indent="0" algn="r">
              <a:lnSpc>
                <a:spcPts val="2400"/>
              </a:lnSpc>
              <a:buNone/>
            </a:pPr>
            <a:r>
              <a:rPr lang="en-US" sz="1900" dirty="0">
                <a:solidFill>
                  <a:srgbClr val="2B2E3C"/>
                </a:solidFill>
                <a:latin typeface="Bitter Medium" pitchFamily="34" charset="0"/>
                <a:ea typeface="Bitter Medium" pitchFamily="34" charset="-122"/>
                <a:cs typeface="Bitter Medium" pitchFamily="34" charset="-120"/>
              </a:rPr>
              <a:t>Frontend</a:t>
            </a:r>
            <a:endParaRPr lang="en-US" sz="1900" dirty="0"/>
          </a:p>
        </p:txBody>
      </p:sp>
      <p:sp>
        <p:nvSpPr>
          <p:cNvPr id="7" name="Text 4"/>
          <p:cNvSpPr/>
          <p:nvPr/>
        </p:nvSpPr>
        <p:spPr>
          <a:xfrm>
            <a:off x="2034201" y="4388397"/>
            <a:ext cx="2485111" cy="453696"/>
          </a:xfrm>
          <a:prstGeom prst="rect">
            <a:avLst/>
          </a:prstGeom>
          <a:noFill/>
          <a:ln/>
        </p:spPr>
        <p:txBody>
          <a:bodyPr wrap="square" lIns="0" tIns="0" rIns="0" bIns="0" rtlCol="0" anchor="t"/>
          <a:lstStyle/>
          <a:p>
            <a:pPr marL="0" indent="0" algn="r">
              <a:lnSpc>
                <a:spcPts val="1750"/>
              </a:lnSpc>
              <a:buNone/>
            </a:pPr>
            <a:r>
              <a:rPr lang="en-US" sz="1500" dirty="0">
                <a:solidFill>
                  <a:srgbClr val="2B2E3C"/>
                </a:solidFill>
                <a:latin typeface="Open Sans" pitchFamily="34" charset="0"/>
                <a:ea typeface="Open Sans" pitchFamily="34" charset="-122"/>
                <a:cs typeface="Open Sans" pitchFamily="34" charset="-120"/>
              </a:rPr>
              <a:t>React UI styled with Tailwind CSS</a:t>
            </a:r>
            <a:endParaRPr lang="en-US" sz="1500" dirty="0"/>
          </a:p>
        </p:txBody>
      </p:sp>
      <p:sp>
        <p:nvSpPr>
          <p:cNvPr id="8" name="Text 5"/>
          <p:cNvSpPr/>
          <p:nvPr/>
        </p:nvSpPr>
        <p:spPr>
          <a:xfrm>
            <a:off x="9892819" y="4855718"/>
            <a:ext cx="2452412" cy="306552"/>
          </a:xfrm>
          <a:prstGeom prst="rect">
            <a:avLst/>
          </a:prstGeom>
          <a:noFill/>
          <a:ln/>
        </p:spPr>
        <p:txBody>
          <a:bodyPr wrap="none" lIns="0" tIns="0" rIns="0" bIns="0" rtlCol="0" anchor="t"/>
          <a:lstStyle/>
          <a:p>
            <a:pPr marL="0" indent="0" algn="l">
              <a:lnSpc>
                <a:spcPts val="2400"/>
              </a:lnSpc>
              <a:buNone/>
            </a:pPr>
            <a:r>
              <a:rPr lang="en-US" sz="1900" dirty="0">
                <a:solidFill>
                  <a:srgbClr val="2B2E3C"/>
                </a:solidFill>
                <a:latin typeface="Bitter Medium" pitchFamily="34" charset="0"/>
                <a:ea typeface="Bitter Medium" pitchFamily="34" charset="-122"/>
                <a:cs typeface="Bitter Medium" pitchFamily="34" charset="-120"/>
              </a:rPr>
              <a:t>User Entry</a:t>
            </a:r>
            <a:endParaRPr lang="en-US" sz="1900" dirty="0"/>
          </a:p>
        </p:txBody>
      </p:sp>
      <p:sp>
        <p:nvSpPr>
          <p:cNvPr id="9" name="Text 6"/>
          <p:cNvSpPr/>
          <p:nvPr/>
        </p:nvSpPr>
        <p:spPr>
          <a:xfrm>
            <a:off x="9892819" y="5249466"/>
            <a:ext cx="2703103" cy="453696"/>
          </a:xfrm>
          <a:prstGeom prst="rect">
            <a:avLst/>
          </a:prstGeom>
          <a:noFill/>
          <a:ln/>
        </p:spPr>
        <p:txBody>
          <a:bodyPr wrap="square" lIns="0" tIns="0" rIns="0" bIns="0" rtlCol="0" anchor="t"/>
          <a:lstStyle/>
          <a:p>
            <a:pPr marL="0" indent="0" algn="l">
              <a:lnSpc>
                <a:spcPts val="1750"/>
              </a:lnSpc>
              <a:buNone/>
            </a:pPr>
            <a:r>
              <a:rPr lang="en-US" sz="1500" dirty="0">
                <a:solidFill>
                  <a:srgbClr val="2B2E3C"/>
                </a:solidFill>
                <a:latin typeface="Open Sans" pitchFamily="34" charset="0"/>
                <a:ea typeface="Open Sans" pitchFamily="34" charset="-122"/>
                <a:cs typeface="Open Sans" pitchFamily="34" charset="-120"/>
              </a:rPr>
              <a:t>Patient or clinician submits data via browser</a:t>
            </a:r>
            <a:endParaRPr lang="en-US" sz="1500" dirty="0"/>
          </a:p>
        </p:txBody>
      </p:sp>
      <p:sp>
        <p:nvSpPr>
          <p:cNvPr id="10" name="Text 7"/>
          <p:cNvSpPr/>
          <p:nvPr/>
        </p:nvSpPr>
        <p:spPr>
          <a:xfrm>
            <a:off x="793790" y="6923484"/>
            <a:ext cx="13042821" cy="570548"/>
          </a:xfrm>
          <a:prstGeom prst="rect">
            <a:avLst/>
          </a:prstGeom>
          <a:noFill/>
          <a:ln/>
        </p:spPr>
        <p:txBody>
          <a:bodyPr wrap="square" lIns="0" tIns="0" rIns="0" bIns="0" rtlCol="0" anchor="t"/>
          <a:lstStyle/>
          <a:p>
            <a:pPr marL="0" indent="0" algn="l">
              <a:lnSpc>
                <a:spcPts val="2200"/>
              </a:lnSpc>
              <a:buNone/>
            </a:pPr>
            <a:r>
              <a:rPr lang="en-US" sz="1500" dirty="0">
                <a:solidFill>
                  <a:srgbClr val="2B2E3C"/>
                </a:solidFill>
                <a:latin typeface="Open Sans" pitchFamily="34" charset="0"/>
                <a:ea typeface="Open Sans" pitchFamily="34" charset="-122"/>
                <a:cs typeface="Open Sans" pitchFamily="34" charset="-120"/>
              </a:rPr>
              <a:t>The system follows a clean, layered architecture — separating concerns across the UI, API, and inference engine — ensuring maintainability, scalability, and security at every tier.</a:t>
            </a:r>
            <a:endParaRPr lang="en-US" sz="1500" dirty="0"/>
          </a:p>
        </p:txBody>
      </p:sp>
      <p:sp>
        <p:nvSpPr>
          <p:cNvPr id="11" name="Rectangle 10">
            <a:extLst>
              <a:ext uri="{FF2B5EF4-FFF2-40B4-BE49-F238E27FC236}">
                <a16:creationId xmlns:a16="http://schemas.microsoft.com/office/drawing/2014/main" id="{9F86EB1F-AC94-FC49-E1B5-7EAEDBC42B87}"/>
              </a:ext>
            </a:extLst>
          </p:cNvPr>
          <p:cNvSpPr/>
          <p:nvPr/>
        </p:nvSpPr>
        <p:spPr>
          <a:xfrm>
            <a:off x="12555020" y="7592602"/>
            <a:ext cx="1931542" cy="554805"/>
          </a:xfrm>
          <a:prstGeom prst="rect">
            <a:avLst/>
          </a:prstGeom>
          <a:solidFill>
            <a:srgbClr val="FFF8F0"/>
          </a:solidFill>
          <a:ln>
            <a:solidFill>
              <a:srgbClr val="FFF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60EDC94F-BFD2-529C-4536-5B84AA7DE086}"/>
              </a:ext>
            </a:extLst>
          </p:cNvPr>
          <p:cNvPicPr>
            <a:picLocks noChangeAspect="1"/>
          </p:cNvPicPr>
          <p:nvPr/>
        </p:nvPicPr>
        <p:blipFill>
          <a:blip r:embed="rId4"/>
          <a:stretch>
            <a:fillRect/>
          </a:stretch>
        </p:blipFill>
        <p:spPr>
          <a:xfrm>
            <a:off x="13007951" y="10276"/>
            <a:ext cx="1546017" cy="10887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182457"/>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How It Works</a:t>
            </a:r>
            <a:endParaRPr lang="en-US" sz="4450" dirty="0"/>
          </a:p>
        </p:txBody>
      </p:sp>
      <p:pic>
        <p:nvPicPr>
          <p:cNvPr id="3" name="Image 0" descr="preencoded.png"/>
          <p:cNvPicPr>
            <a:picLocks noChangeAspect="1"/>
          </p:cNvPicPr>
          <p:nvPr/>
        </p:nvPicPr>
        <p:blipFill>
          <a:blip r:embed="rId3"/>
          <a:stretch>
            <a:fillRect/>
          </a:stretch>
        </p:blipFill>
        <p:spPr>
          <a:xfrm>
            <a:off x="793790" y="2314042"/>
            <a:ext cx="6521410" cy="907256"/>
          </a:xfrm>
          <a:prstGeom prst="rect">
            <a:avLst/>
          </a:prstGeom>
        </p:spPr>
      </p:pic>
      <p:sp>
        <p:nvSpPr>
          <p:cNvPr id="4" name="Text 1"/>
          <p:cNvSpPr/>
          <p:nvPr/>
        </p:nvSpPr>
        <p:spPr>
          <a:xfrm>
            <a:off x="1020604" y="344811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Input</a:t>
            </a:r>
            <a:endParaRPr lang="en-US" sz="2200" dirty="0"/>
          </a:p>
        </p:txBody>
      </p:sp>
      <p:sp>
        <p:nvSpPr>
          <p:cNvPr id="5" name="Text 2"/>
          <p:cNvSpPr/>
          <p:nvPr/>
        </p:nvSpPr>
        <p:spPr>
          <a:xfrm>
            <a:off x="1020604" y="3938531"/>
            <a:ext cx="6067782"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Patient enters clinical indicators such as age, blood pressure, cholesterol, and lifestyle factors.</a:t>
            </a:r>
            <a:endParaRPr lang="en-US" sz="1750" dirty="0"/>
          </a:p>
        </p:txBody>
      </p:sp>
      <p:pic>
        <p:nvPicPr>
          <p:cNvPr id="6" name="Image 1" descr="preencoded.png"/>
          <p:cNvPicPr>
            <a:picLocks noChangeAspect="1"/>
          </p:cNvPicPr>
          <p:nvPr/>
        </p:nvPicPr>
        <p:blipFill>
          <a:blip r:embed="rId4"/>
          <a:stretch>
            <a:fillRect/>
          </a:stretch>
        </p:blipFill>
        <p:spPr>
          <a:xfrm>
            <a:off x="7315200" y="2314042"/>
            <a:ext cx="6521410" cy="907256"/>
          </a:xfrm>
          <a:prstGeom prst="rect">
            <a:avLst/>
          </a:prstGeom>
        </p:spPr>
      </p:pic>
      <p:sp>
        <p:nvSpPr>
          <p:cNvPr id="7" name="Text 3"/>
          <p:cNvSpPr/>
          <p:nvPr/>
        </p:nvSpPr>
        <p:spPr>
          <a:xfrm>
            <a:off x="7542014" y="344811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Processing</a:t>
            </a:r>
            <a:endParaRPr lang="en-US" sz="2200" dirty="0"/>
          </a:p>
        </p:txBody>
      </p:sp>
      <p:sp>
        <p:nvSpPr>
          <p:cNvPr id="8" name="Text 4"/>
          <p:cNvSpPr/>
          <p:nvPr/>
        </p:nvSpPr>
        <p:spPr>
          <a:xfrm>
            <a:off x="7542014" y="3938531"/>
            <a:ext cx="6067782"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The backend API validates and normalizes inputs before routing them to the inference engine.</a:t>
            </a:r>
            <a:endParaRPr lang="en-US" sz="1750" dirty="0"/>
          </a:p>
        </p:txBody>
      </p:sp>
      <p:pic>
        <p:nvPicPr>
          <p:cNvPr id="9" name="Image 2" descr="preencoded.png"/>
          <p:cNvPicPr>
            <a:picLocks noChangeAspect="1"/>
          </p:cNvPicPr>
          <p:nvPr/>
        </p:nvPicPr>
        <p:blipFill>
          <a:blip r:embed="rId5"/>
          <a:stretch>
            <a:fillRect/>
          </a:stretch>
        </p:blipFill>
        <p:spPr>
          <a:xfrm>
            <a:off x="793790" y="4891150"/>
            <a:ext cx="6521410" cy="907256"/>
          </a:xfrm>
          <a:prstGeom prst="rect">
            <a:avLst/>
          </a:prstGeom>
        </p:spPr>
      </p:pic>
      <p:sp>
        <p:nvSpPr>
          <p:cNvPr id="10" name="Text 5"/>
          <p:cNvSpPr/>
          <p:nvPr/>
        </p:nvSpPr>
        <p:spPr>
          <a:xfrm>
            <a:off x="1020604" y="602522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Prediction</a:t>
            </a:r>
            <a:endParaRPr lang="en-US" sz="2200" dirty="0"/>
          </a:p>
        </p:txBody>
      </p:sp>
      <p:sp>
        <p:nvSpPr>
          <p:cNvPr id="11" name="Text 6"/>
          <p:cNvSpPr/>
          <p:nvPr/>
        </p:nvSpPr>
        <p:spPr>
          <a:xfrm>
            <a:off x="1020604" y="6515639"/>
            <a:ext cx="6067782"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The ONNX model evaluates the data and computes a risk score in real time.</a:t>
            </a:r>
            <a:endParaRPr lang="en-US" sz="1750" dirty="0"/>
          </a:p>
        </p:txBody>
      </p:sp>
      <p:pic>
        <p:nvPicPr>
          <p:cNvPr id="12" name="Image 3" descr="preencoded.png"/>
          <p:cNvPicPr>
            <a:picLocks noChangeAspect="1"/>
          </p:cNvPicPr>
          <p:nvPr/>
        </p:nvPicPr>
        <p:blipFill>
          <a:blip r:embed="rId6"/>
          <a:stretch>
            <a:fillRect/>
          </a:stretch>
        </p:blipFill>
        <p:spPr>
          <a:xfrm>
            <a:off x="7315200" y="4891150"/>
            <a:ext cx="6521410" cy="907256"/>
          </a:xfrm>
          <a:prstGeom prst="rect">
            <a:avLst/>
          </a:prstGeom>
        </p:spPr>
      </p:pic>
      <p:sp>
        <p:nvSpPr>
          <p:cNvPr id="13" name="Text 7"/>
          <p:cNvSpPr/>
          <p:nvPr/>
        </p:nvSpPr>
        <p:spPr>
          <a:xfrm>
            <a:off x="7542014" y="602522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Output</a:t>
            </a:r>
            <a:endParaRPr lang="en-US" sz="2200" dirty="0"/>
          </a:p>
        </p:txBody>
      </p:sp>
      <p:sp>
        <p:nvSpPr>
          <p:cNvPr id="14" name="Text 8"/>
          <p:cNvSpPr/>
          <p:nvPr/>
        </p:nvSpPr>
        <p:spPr>
          <a:xfrm>
            <a:off x="7542014" y="6515639"/>
            <a:ext cx="6067782"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The user receives a clear Low, Medium, or High risk classification with actionable guidance.</a:t>
            </a:r>
            <a:endParaRPr lang="en-US" sz="1750" dirty="0"/>
          </a:p>
        </p:txBody>
      </p:sp>
      <p:sp>
        <p:nvSpPr>
          <p:cNvPr id="15" name="Rectangle 14">
            <a:extLst>
              <a:ext uri="{FF2B5EF4-FFF2-40B4-BE49-F238E27FC236}">
                <a16:creationId xmlns:a16="http://schemas.microsoft.com/office/drawing/2014/main" id="{3AB711E0-DBAB-483D-2D28-8F18F4D5BC5B}"/>
              </a:ext>
            </a:extLst>
          </p:cNvPr>
          <p:cNvSpPr/>
          <p:nvPr/>
        </p:nvSpPr>
        <p:spPr>
          <a:xfrm>
            <a:off x="12555020" y="7592602"/>
            <a:ext cx="1931542" cy="554805"/>
          </a:xfrm>
          <a:prstGeom prst="rect">
            <a:avLst/>
          </a:prstGeom>
          <a:solidFill>
            <a:srgbClr val="FFF8F0"/>
          </a:solidFill>
          <a:ln>
            <a:solidFill>
              <a:srgbClr val="FFF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41E672E4-C49B-6596-96DD-B52C61D90C01}"/>
              </a:ext>
            </a:extLst>
          </p:cNvPr>
          <p:cNvPicPr>
            <a:picLocks noChangeAspect="1"/>
          </p:cNvPicPr>
          <p:nvPr/>
        </p:nvPicPr>
        <p:blipFill>
          <a:blip r:embed="rId7"/>
          <a:stretch>
            <a:fillRect/>
          </a:stretch>
        </p:blipFill>
        <p:spPr>
          <a:xfrm>
            <a:off x="13007951" y="10276"/>
            <a:ext cx="1546017" cy="10887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24DA5B-8384-D12D-E1E3-E30A77D167AE}"/>
              </a:ext>
            </a:extLst>
          </p:cNvPr>
          <p:cNvPicPr>
            <a:picLocks noChangeAspect="1"/>
          </p:cNvPicPr>
          <p:nvPr/>
        </p:nvPicPr>
        <p:blipFill>
          <a:blip r:embed="rId2"/>
          <a:stretch>
            <a:fillRect/>
          </a:stretch>
        </p:blipFill>
        <p:spPr>
          <a:xfrm>
            <a:off x="7233007" y="3068585"/>
            <a:ext cx="6987018" cy="4448796"/>
          </a:xfrm>
          <a:prstGeom prst="rect">
            <a:avLst/>
          </a:prstGeom>
        </p:spPr>
      </p:pic>
      <p:sp>
        <p:nvSpPr>
          <p:cNvPr id="4" name="Rectangle 3">
            <a:extLst>
              <a:ext uri="{FF2B5EF4-FFF2-40B4-BE49-F238E27FC236}">
                <a16:creationId xmlns:a16="http://schemas.microsoft.com/office/drawing/2014/main" id="{68D9D273-D03D-2DDE-B23A-09C06E8EFCD6}"/>
              </a:ext>
            </a:extLst>
          </p:cNvPr>
          <p:cNvSpPr/>
          <p:nvPr/>
        </p:nvSpPr>
        <p:spPr>
          <a:xfrm>
            <a:off x="6380251" y="2185214"/>
            <a:ext cx="3493214" cy="7922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Sign up/ Login</a:t>
            </a:r>
            <a:endParaRPr lang="en-IN" dirty="0">
              <a:solidFill>
                <a:schemeClr val="tx1"/>
              </a:solidFill>
            </a:endParaRPr>
          </a:p>
        </p:txBody>
      </p:sp>
      <p:pic>
        <p:nvPicPr>
          <p:cNvPr id="5" name="Picture 4">
            <a:extLst>
              <a:ext uri="{FF2B5EF4-FFF2-40B4-BE49-F238E27FC236}">
                <a16:creationId xmlns:a16="http://schemas.microsoft.com/office/drawing/2014/main" id="{5144C1ED-F10A-F4D6-7563-FF5ADDED2AD9}"/>
              </a:ext>
            </a:extLst>
          </p:cNvPr>
          <p:cNvPicPr>
            <a:picLocks noChangeAspect="1"/>
          </p:cNvPicPr>
          <p:nvPr/>
        </p:nvPicPr>
        <p:blipFill>
          <a:blip r:embed="rId3"/>
          <a:stretch>
            <a:fillRect/>
          </a:stretch>
        </p:blipFill>
        <p:spPr>
          <a:xfrm>
            <a:off x="328773" y="3068586"/>
            <a:ext cx="6184451" cy="4448795"/>
          </a:xfrm>
          <a:prstGeom prst="rect">
            <a:avLst/>
          </a:prstGeom>
        </p:spPr>
      </p:pic>
      <p:sp>
        <p:nvSpPr>
          <p:cNvPr id="6" name="Rectangle 5">
            <a:extLst>
              <a:ext uri="{FF2B5EF4-FFF2-40B4-BE49-F238E27FC236}">
                <a16:creationId xmlns:a16="http://schemas.microsoft.com/office/drawing/2014/main" id="{C41050FC-5724-FA63-24BD-36592D183E42}"/>
              </a:ext>
            </a:extLst>
          </p:cNvPr>
          <p:cNvSpPr/>
          <p:nvPr/>
        </p:nvSpPr>
        <p:spPr>
          <a:xfrm>
            <a:off x="0" y="2301622"/>
            <a:ext cx="2268260" cy="67588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Home Page</a:t>
            </a:r>
            <a:endParaRPr lang="en-IN" dirty="0">
              <a:solidFill>
                <a:schemeClr val="tx1"/>
              </a:solidFill>
            </a:endParaRPr>
          </a:p>
        </p:txBody>
      </p:sp>
      <p:sp>
        <p:nvSpPr>
          <p:cNvPr id="7" name="Rectangle 6">
            <a:extLst>
              <a:ext uri="{FF2B5EF4-FFF2-40B4-BE49-F238E27FC236}">
                <a16:creationId xmlns:a16="http://schemas.microsoft.com/office/drawing/2014/main" id="{DA89B7E6-4140-3EA2-6E37-3DF19110583A}"/>
              </a:ext>
            </a:extLst>
          </p:cNvPr>
          <p:cNvSpPr/>
          <p:nvPr/>
        </p:nvSpPr>
        <p:spPr>
          <a:xfrm>
            <a:off x="12555020" y="7592602"/>
            <a:ext cx="1931542" cy="554805"/>
          </a:xfrm>
          <a:prstGeom prst="rect">
            <a:avLst/>
          </a:prstGeom>
          <a:solidFill>
            <a:srgbClr val="FFF8F0"/>
          </a:solidFill>
          <a:ln>
            <a:solidFill>
              <a:srgbClr val="FFF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E3919908-B946-BC5C-0852-CA0248007FFA}"/>
              </a:ext>
            </a:extLst>
          </p:cNvPr>
          <p:cNvPicPr>
            <a:picLocks noChangeAspect="1"/>
          </p:cNvPicPr>
          <p:nvPr/>
        </p:nvPicPr>
        <p:blipFill>
          <a:blip r:embed="rId4"/>
          <a:stretch>
            <a:fillRect/>
          </a:stretch>
        </p:blipFill>
        <p:spPr>
          <a:xfrm>
            <a:off x="13007951" y="10276"/>
            <a:ext cx="1546017" cy="1088708"/>
          </a:xfrm>
          <a:prstGeom prst="rect">
            <a:avLst/>
          </a:prstGeom>
        </p:spPr>
      </p:pic>
      <p:sp>
        <p:nvSpPr>
          <p:cNvPr id="9" name="Text 0">
            <a:extLst>
              <a:ext uri="{FF2B5EF4-FFF2-40B4-BE49-F238E27FC236}">
                <a16:creationId xmlns:a16="http://schemas.microsoft.com/office/drawing/2014/main" id="{4FECE0CC-E147-582C-0021-D8FB1ABD1C26}"/>
              </a:ext>
            </a:extLst>
          </p:cNvPr>
          <p:cNvSpPr/>
          <p:nvPr/>
        </p:nvSpPr>
        <p:spPr>
          <a:xfrm>
            <a:off x="793790" y="1182457"/>
            <a:ext cx="5670590" cy="708779"/>
          </a:xfrm>
          <a:prstGeom prst="rect">
            <a:avLst/>
          </a:prstGeom>
          <a:noFill/>
          <a:ln/>
        </p:spPr>
        <p:txBody>
          <a:bodyPr wrap="none" lIns="0" tIns="0" rIns="0" bIns="0" rtlCol="0" anchor="t"/>
          <a:lstStyle/>
          <a:p>
            <a:pPr>
              <a:lnSpc>
                <a:spcPts val="4450"/>
              </a:lnSpc>
            </a:pPr>
            <a:r>
              <a:rPr lang="en-US" sz="4450" dirty="0">
                <a:latin typeface="Bitter Medium" panose="020B0604020202020204" charset="0"/>
              </a:rPr>
              <a:t>Implementation &amp; Screenshots</a:t>
            </a:r>
          </a:p>
        </p:txBody>
      </p:sp>
    </p:spTree>
    <p:extLst>
      <p:ext uri="{BB962C8B-B14F-4D97-AF65-F5344CB8AC3E}">
        <p14:creationId xmlns:p14="http://schemas.microsoft.com/office/powerpoint/2010/main" val="2460319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DE85751B-BA1C-BC63-5841-E52ADA3B8DEF}"/>
              </a:ext>
            </a:extLst>
          </p:cNvPr>
          <p:cNvSpPr/>
          <p:nvPr/>
        </p:nvSpPr>
        <p:spPr>
          <a:xfrm>
            <a:off x="619129" y="3241357"/>
            <a:ext cx="3011329" cy="336590"/>
          </a:xfrm>
          <a:prstGeom prst="rect">
            <a:avLst/>
          </a:prstGeom>
          <a:noFill/>
          <a:ln/>
        </p:spPr>
        <p:txBody>
          <a:bodyPr wrap="none" lIns="0" tIns="0" rIns="0" bIns="0" rtlCol="0" anchor="t"/>
          <a:lstStyle/>
          <a:p>
            <a:pPr marL="0" indent="0" algn="l">
              <a:lnSpc>
                <a:spcPts val="2650"/>
              </a:lnSpc>
              <a:buNone/>
            </a:pPr>
            <a:r>
              <a:rPr lang="en-US" sz="2100" dirty="0">
                <a:solidFill>
                  <a:srgbClr val="2C3F42"/>
                </a:solidFill>
                <a:latin typeface="Bitter Medium" pitchFamily="34" charset="0"/>
              </a:rPr>
              <a:t>Dashboard</a:t>
            </a:r>
            <a:endParaRPr lang="en-US" sz="2100" dirty="0"/>
          </a:p>
        </p:txBody>
      </p:sp>
      <p:sp>
        <p:nvSpPr>
          <p:cNvPr id="4" name="Text 18">
            <a:extLst>
              <a:ext uri="{FF2B5EF4-FFF2-40B4-BE49-F238E27FC236}">
                <a16:creationId xmlns:a16="http://schemas.microsoft.com/office/drawing/2014/main" id="{81EBE58E-A4FF-7FFF-7ECC-12B4679E35D0}"/>
              </a:ext>
            </a:extLst>
          </p:cNvPr>
          <p:cNvSpPr/>
          <p:nvPr/>
        </p:nvSpPr>
        <p:spPr>
          <a:xfrm>
            <a:off x="8324255" y="2426256"/>
            <a:ext cx="5459730" cy="1966793"/>
          </a:xfrm>
          <a:prstGeom prst="rect">
            <a:avLst/>
          </a:prstGeom>
          <a:noFill/>
          <a:ln/>
        </p:spPr>
        <p:txBody>
          <a:bodyPr wrap="square" lIns="0" tIns="0" rIns="0" bIns="0" rtlCol="0" anchor="t"/>
          <a:lstStyle/>
          <a:p>
            <a:pPr marL="342900" indent="-342900" algn="l">
              <a:lnSpc>
                <a:spcPts val="2600"/>
              </a:lnSpc>
              <a:buSzPct val="100000"/>
              <a:buFont typeface="+mj-lt"/>
              <a:buAutoNum type="arabicPeriod" startAt="5"/>
            </a:pPr>
            <a:endParaRPr lang="en-US" sz="1650" dirty="0"/>
          </a:p>
        </p:txBody>
      </p:sp>
      <p:pic>
        <p:nvPicPr>
          <p:cNvPr id="5" name="Picture 4">
            <a:extLst>
              <a:ext uri="{FF2B5EF4-FFF2-40B4-BE49-F238E27FC236}">
                <a16:creationId xmlns:a16="http://schemas.microsoft.com/office/drawing/2014/main" id="{F6355C69-6AB2-AE02-5473-3BFF35F18BE2}"/>
              </a:ext>
            </a:extLst>
          </p:cNvPr>
          <p:cNvPicPr>
            <a:picLocks noChangeAspect="1"/>
          </p:cNvPicPr>
          <p:nvPr/>
        </p:nvPicPr>
        <p:blipFill>
          <a:blip r:embed="rId2"/>
          <a:stretch>
            <a:fillRect/>
          </a:stretch>
        </p:blipFill>
        <p:spPr>
          <a:xfrm>
            <a:off x="619129" y="3693847"/>
            <a:ext cx="7117311" cy="3835903"/>
          </a:xfrm>
          <a:prstGeom prst="rect">
            <a:avLst/>
          </a:prstGeom>
        </p:spPr>
      </p:pic>
      <p:pic>
        <p:nvPicPr>
          <p:cNvPr id="6" name="Picture 5">
            <a:extLst>
              <a:ext uri="{FF2B5EF4-FFF2-40B4-BE49-F238E27FC236}">
                <a16:creationId xmlns:a16="http://schemas.microsoft.com/office/drawing/2014/main" id="{7875BC27-8D52-B1EE-E72A-FE4662B7B646}"/>
              </a:ext>
            </a:extLst>
          </p:cNvPr>
          <p:cNvPicPr>
            <a:picLocks noChangeAspect="1"/>
          </p:cNvPicPr>
          <p:nvPr/>
        </p:nvPicPr>
        <p:blipFill>
          <a:blip r:embed="rId3"/>
          <a:stretch>
            <a:fillRect/>
          </a:stretch>
        </p:blipFill>
        <p:spPr>
          <a:xfrm>
            <a:off x="8009815" y="3693846"/>
            <a:ext cx="6459540" cy="3835903"/>
          </a:xfrm>
          <a:prstGeom prst="rect">
            <a:avLst/>
          </a:prstGeom>
        </p:spPr>
      </p:pic>
      <p:sp>
        <p:nvSpPr>
          <p:cNvPr id="7" name="Rectangle 6">
            <a:extLst>
              <a:ext uri="{FF2B5EF4-FFF2-40B4-BE49-F238E27FC236}">
                <a16:creationId xmlns:a16="http://schemas.microsoft.com/office/drawing/2014/main" id="{13495F0A-93CA-F4C9-C02A-B05B5539A804}"/>
              </a:ext>
            </a:extLst>
          </p:cNvPr>
          <p:cNvSpPr/>
          <p:nvPr/>
        </p:nvSpPr>
        <p:spPr>
          <a:xfrm>
            <a:off x="7315200" y="2986719"/>
            <a:ext cx="2743200" cy="8458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00" dirty="0">
                <a:solidFill>
                  <a:schemeClr val="tx1"/>
                </a:solidFill>
                <a:latin typeface="Bitter Medium" panose="020B0604020202020204" charset="0"/>
              </a:rPr>
              <a:t>Analysis</a:t>
            </a:r>
            <a:endParaRPr lang="en-IN" sz="2100" dirty="0">
              <a:solidFill>
                <a:schemeClr val="tx1"/>
              </a:solidFill>
              <a:latin typeface="Bitter Medium" panose="020B0604020202020204" charset="0"/>
            </a:endParaRPr>
          </a:p>
        </p:txBody>
      </p:sp>
      <p:sp>
        <p:nvSpPr>
          <p:cNvPr id="8" name="Rectangle 7">
            <a:extLst>
              <a:ext uri="{FF2B5EF4-FFF2-40B4-BE49-F238E27FC236}">
                <a16:creationId xmlns:a16="http://schemas.microsoft.com/office/drawing/2014/main" id="{C6445519-2F39-C486-9C64-E8F8A284B8FD}"/>
              </a:ext>
            </a:extLst>
          </p:cNvPr>
          <p:cNvSpPr/>
          <p:nvPr/>
        </p:nvSpPr>
        <p:spPr>
          <a:xfrm>
            <a:off x="12555020" y="7592602"/>
            <a:ext cx="1931542" cy="554805"/>
          </a:xfrm>
          <a:prstGeom prst="rect">
            <a:avLst/>
          </a:prstGeom>
          <a:solidFill>
            <a:srgbClr val="FFF8F0"/>
          </a:solidFill>
          <a:ln>
            <a:solidFill>
              <a:srgbClr val="FFF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25C49E71-77A8-2712-A02E-EE41F822A646}"/>
              </a:ext>
            </a:extLst>
          </p:cNvPr>
          <p:cNvPicPr>
            <a:picLocks noChangeAspect="1"/>
          </p:cNvPicPr>
          <p:nvPr/>
        </p:nvPicPr>
        <p:blipFill>
          <a:blip r:embed="rId4"/>
          <a:stretch>
            <a:fillRect/>
          </a:stretch>
        </p:blipFill>
        <p:spPr>
          <a:xfrm>
            <a:off x="13007951" y="10276"/>
            <a:ext cx="1546017" cy="1088708"/>
          </a:xfrm>
          <a:prstGeom prst="rect">
            <a:avLst/>
          </a:prstGeom>
        </p:spPr>
      </p:pic>
      <p:sp>
        <p:nvSpPr>
          <p:cNvPr id="10" name="Text 0">
            <a:extLst>
              <a:ext uri="{FF2B5EF4-FFF2-40B4-BE49-F238E27FC236}">
                <a16:creationId xmlns:a16="http://schemas.microsoft.com/office/drawing/2014/main" id="{617714D8-A3C7-0AA3-E3D2-50B506F22B1D}"/>
              </a:ext>
            </a:extLst>
          </p:cNvPr>
          <p:cNvSpPr/>
          <p:nvPr/>
        </p:nvSpPr>
        <p:spPr>
          <a:xfrm>
            <a:off x="793790" y="1182457"/>
            <a:ext cx="5670590" cy="708779"/>
          </a:xfrm>
          <a:prstGeom prst="rect">
            <a:avLst/>
          </a:prstGeom>
          <a:noFill/>
          <a:ln/>
        </p:spPr>
        <p:txBody>
          <a:bodyPr wrap="none" lIns="0" tIns="0" rIns="0" bIns="0" rtlCol="0" anchor="t"/>
          <a:lstStyle/>
          <a:p>
            <a:pPr>
              <a:lnSpc>
                <a:spcPts val="4450"/>
              </a:lnSpc>
            </a:pPr>
            <a:r>
              <a:rPr lang="en-US" sz="4450" dirty="0">
                <a:latin typeface="Bitter Medium" panose="020B0604020202020204" charset="0"/>
              </a:rPr>
              <a:t>Implementation &amp; Screenshots</a:t>
            </a:r>
          </a:p>
        </p:txBody>
      </p:sp>
    </p:spTree>
    <p:extLst>
      <p:ext uri="{BB962C8B-B14F-4D97-AF65-F5344CB8AC3E}">
        <p14:creationId xmlns:p14="http://schemas.microsoft.com/office/powerpoint/2010/main" val="2708798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DE3B03-64F3-C34E-AB22-7CC328CE336C}"/>
              </a:ext>
            </a:extLst>
          </p:cNvPr>
          <p:cNvPicPr>
            <a:picLocks noChangeAspect="1"/>
          </p:cNvPicPr>
          <p:nvPr/>
        </p:nvPicPr>
        <p:blipFill>
          <a:blip r:embed="rId2"/>
          <a:stretch>
            <a:fillRect/>
          </a:stretch>
        </p:blipFill>
        <p:spPr>
          <a:xfrm>
            <a:off x="1880171" y="3609731"/>
            <a:ext cx="10603385" cy="3746566"/>
          </a:xfrm>
          <a:prstGeom prst="rect">
            <a:avLst/>
          </a:prstGeom>
        </p:spPr>
      </p:pic>
      <p:sp>
        <p:nvSpPr>
          <p:cNvPr id="4" name="Rectangle 3">
            <a:extLst>
              <a:ext uri="{FF2B5EF4-FFF2-40B4-BE49-F238E27FC236}">
                <a16:creationId xmlns:a16="http://schemas.microsoft.com/office/drawing/2014/main" id="{2868F204-7FAE-2381-F9BE-F51A74FFA81F}"/>
              </a:ext>
            </a:extLst>
          </p:cNvPr>
          <p:cNvSpPr/>
          <p:nvPr/>
        </p:nvSpPr>
        <p:spPr>
          <a:xfrm>
            <a:off x="904127" y="2989780"/>
            <a:ext cx="3113069" cy="4300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Final Result</a:t>
            </a:r>
            <a:endParaRPr lang="en-IN" dirty="0">
              <a:solidFill>
                <a:schemeClr val="tx1"/>
              </a:solidFill>
            </a:endParaRPr>
          </a:p>
        </p:txBody>
      </p:sp>
      <p:sp>
        <p:nvSpPr>
          <p:cNvPr id="5" name="Rectangle 4">
            <a:extLst>
              <a:ext uri="{FF2B5EF4-FFF2-40B4-BE49-F238E27FC236}">
                <a16:creationId xmlns:a16="http://schemas.microsoft.com/office/drawing/2014/main" id="{5EFB3809-1D70-5B82-8D63-82301F33252E}"/>
              </a:ext>
            </a:extLst>
          </p:cNvPr>
          <p:cNvSpPr/>
          <p:nvPr/>
        </p:nvSpPr>
        <p:spPr>
          <a:xfrm>
            <a:off x="12555020" y="7592602"/>
            <a:ext cx="1931542" cy="554805"/>
          </a:xfrm>
          <a:prstGeom prst="rect">
            <a:avLst/>
          </a:prstGeom>
          <a:solidFill>
            <a:srgbClr val="FFF8F0"/>
          </a:solidFill>
          <a:ln>
            <a:solidFill>
              <a:srgbClr val="FFF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28E9A6F7-4072-0828-DF19-B46F7D6792BB}"/>
              </a:ext>
            </a:extLst>
          </p:cNvPr>
          <p:cNvPicPr>
            <a:picLocks noChangeAspect="1"/>
          </p:cNvPicPr>
          <p:nvPr/>
        </p:nvPicPr>
        <p:blipFill>
          <a:blip r:embed="rId3"/>
          <a:stretch>
            <a:fillRect/>
          </a:stretch>
        </p:blipFill>
        <p:spPr>
          <a:xfrm>
            <a:off x="13007951" y="10276"/>
            <a:ext cx="1546017" cy="1088708"/>
          </a:xfrm>
          <a:prstGeom prst="rect">
            <a:avLst/>
          </a:prstGeom>
        </p:spPr>
      </p:pic>
      <p:sp>
        <p:nvSpPr>
          <p:cNvPr id="7" name="Text 0">
            <a:extLst>
              <a:ext uri="{FF2B5EF4-FFF2-40B4-BE49-F238E27FC236}">
                <a16:creationId xmlns:a16="http://schemas.microsoft.com/office/drawing/2014/main" id="{707C7FBD-F063-7140-7AD7-8EBA80ABF699}"/>
              </a:ext>
            </a:extLst>
          </p:cNvPr>
          <p:cNvSpPr/>
          <p:nvPr/>
        </p:nvSpPr>
        <p:spPr>
          <a:xfrm>
            <a:off x="793790" y="1182457"/>
            <a:ext cx="5670590" cy="708779"/>
          </a:xfrm>
          <a:prstGeom prst="rect">
            <a:avLst/>
          </a:prstGeom>
          <a:noFill/>
          <a:ln/>
        </p:spPr>
        <p:txBody>
          <a:bodyPr wrap="none" lIns="0" tIns="0" rIns="0" bIns="0" rtlCol="0" anchor="t"/>
          <a:lstStyle/>
          <a:p>
            <a:pPr>
              <a:lnSpc>
                <a:spcPts val="4450"/>
              </a:lnSpc>
            </a:pPr>
            <a:r>
              <a:rPr lang="en-US" sz="4450" dirty="0">
                <a:latin typeface="Bitter Medium" panose="020B0604020202020204" charset="0"/>
              </a:rPr>
              <a:t>Implementation &amp; Screenshots</a:t>
            </a:r>
          </a:p>
        </p:txBody>
      </p:sp>
    </p:spTree>
    <p:extLst>
      <p:ext uri="{BB962C8B-B14F-4D97-AF65-F5344CB8AC3E}">
        <p14:creationId xmlns:p14="http://schemas.microsoft.com/office/powerpoint/2010/main" val="2175939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69025" y="1571824"/>
            <a:ext cx="1281112" cy="423624"/>
          </a:xfrm>
          <a:prstGeom prst="roundRect">
            <a:avLst>
              <a:gd name="adj" fmla="val 17429"/>
            </a:avLst>
          </a:prstGeom>
          <a:noFill/>
          <a:ln w="7620">
            <a:solidFill>
              <a:srgbClr val="D2600F"/>
            </a:solidFill>
            <a:prstDash val="solid"/>
          </a:ln>
        </p:spPr>
      </p:sp>
      <p:sp>
        <p:nvSpPr>
          <p:cNvPr id="3" name="Text 1"/>
          <p:cNvSpPr/>
          <p:nvPr/>
        </p:nvSpPr>
        <p:spPr>
          <a:xfrm>
            <a:off x="908447" y="1645285"/>
            <a:ext cx="1002268" cy="276701"/>
          </a:xfrm>
          <a:prstGeom prst="rect">
            <a:avLst/>
          </a:prstGeom>
          <a:noFill/>
          <a:ln/>
        </p:spPr>
        <p:txBody>
          <a:bodyPr wrap="none" lIns="0" tIns="0" rIns="0" bIns="0" rtlCol="0" anchor="t"/>
          <a:lstStyle/>
          <a:p>
            <a:pPr marL="0" indent="0" algn="l">
              <a:lnSpc>
                <a:spcPts val="2150"/>
              </a:lnSpc>
              <a:buNone/>
            </a:pPr>
            <a:r>
              <a:rPr lang="en-US" sz="1350">
                <a:solidFill>
                  <a:srgbClr val="D2600F"/>
                </a:solidFill>
                <a:latin typeface="Open Sans" pitchFamily="34" charset="0"/>
                <a:ea typeface="Open Sans" pitchFamily="34" charset="-122"/>
                <a:cs typeface="Open Sans" pitchFamily="34" charset="-120"/>
              </a:rPr>
              <a:t>TECH STACK</a:t>
            </a:r>
            <a:endParaRPr lang="en-US" sz="1350" dirty="0"/>
          </a:p>
        </p:txBody>
      </p:sp>
      <p:sp>
        <p:nvSpPr>
          <p:cNvPr id="4" name="Text 2"/>
          <p:cNvSpPr/>
          <p:nvPr/>
        </p:nvSpPr>
        <p:spPr>
          <a:xfrm>
            <a:off x="769025" y="2142222"/>
            <a:ext cx="5493425" cy="686633"/>
          </a:xfrm>
          <a:prstGeom prst="rect">
            <a:avLst/>
          </a:prstGeom>
          <a:noFill/>
          <a:ln/>
        </p:spPr>
        <p:txBody>
          <a:bodyPr wrap="none" lIns="0" tIns="0" rIns="0" bIns="0" rtlCol="0" anchor="t"/>
          <a:lstStyle/>
          <a:p>
            <a:pPr marL="0" indent="0" algn="l">
              <a:lnSpc>
                <a:spcPts val="5400"/>
              </a:lnSpc>
              <a:buNone/>
            </a:pPr>
            <a:r>
              <a:rPr lang="en-US" sz="4300">
                <a:solidFill>
                  <a:srgbClr val="2C3F42"/>
                </a:solidFill>
                <a:latin typeface="Bitter Medium" pitchFamily="34" charset="0"/>
                <a:ea typeface="Bitter Medium" pitchFamily="34" charset="-122"/>
                <a:cs typeface="Bitter Medium" pitchFamily="34" charset="-120"/>
              </a:rPr>
              <a:t>Technologies Used</a:t>
            </a:r>
            <a:endParaRPr lang="en-US" sz="4300" dirty="0"/>
          </a:p>
        </p:txBody>
      </p:sp>
      <p:sp>
        <p:nvSpPr>
          <p:cNvPr id="5" name="Text 3"/>
          <p:cNvSpPr/>
          <p:nvPr/>
        </p:nvSpPr>
        <p:spPr>
          <a:xfrm>
            <a:off x="769025" y="3041620"/>
            <a:ext cx="6278166" cy="1038344"/>
          </a:xfrm>
          <a:prstGeom prst="rect">
            <a:avLst/>
          </a:prstGeom>
          <a:noFill/>
          <a:ln/>
        </p:spPr>
        <p:txBody>
          <a:bodyPr wrap="square" lIns="0" tIns="0" rIns="0" bIns="0" rtlCol="0" anchor="t"/>
          <a:lstStyle/>
          <a:p>
            <a:pPr marL="0" indent="0" algn="l">
              <a:lnSpc>
                <a:spcPts val="2700"/>
              </a:lnSpc>
              <a:buNone/>
            </a:pPr>
            <a:r>
              <a:rPr lang="en-US" sz="1700">
                <a:solidFill>
                  <a:srgbClr val="2B2E3C"/>
                </a:solidFill>
                <a:latin typeface="Open Sans" pitchFamily="34" charset="0"/>
                <a:ea typeface="Open Sans" pitchFamily="34" charset="-122"/>
                <a:cs typeface="Open Sans" pitchFamily="34" charset="-120"/>
              </a:rPr>
              <a:t>Built on a modern, production-ready stack — each technology chosen for performance, developer ergonomics, and seamless deployment across cloud environments.</a:t>
            </a:r>
            <a:endParaRPr lang="en-US" sz="1700" dirty="0"/>
          </a:p>
        </p:txBody>
      </p:sp>
      <p:sp>
        <p:nvSpPr>
          <p:cNvPr id="6" name="Shape 4"/>
          <p:cNvSpPr/>
          <p:nvPr/>
        </p:nvSpPr>
        <p:spPr>
          <a:xfrm>
            <a:off x="7590830" y="1571824"/>
            <a:ext cx="3032641" cy="2917984"/>
          </a:xfrm>
          <a:prstGeom prst="roundRect">
            <a:avLst>
              <a:gd name="adj" fmla="val 3163"/>
            </a:avLst>
          </a:prstGeom>
          <a:solidFill>
            <a:srgbClr val="FCE2CF"/>
          </a:solidFill>
          <a:ln w="7620">
            <a:solidFill>
              <a:srgbClr val="E2C8B5"/>
            </a:solidFill>
            <a:prstDash val="solid"/>
          </a:ln>
        </p:spPr>
      </p:sp>
      <p:sp>
        <p:nvSpPr>
          <p:cNvPr id="7" name="Shape 5"/>
          <p:cNvSpPr/>
          <p:nvPr/>
        </p:nvSpPr>
        <p:spPr>
          <a:xfrm>
            <a:off x="7818120" y="1799114"/>
            <a:ext cx="659130" cy="659130"/>
          </a:xfrm>
          <a:prstGeom prst="roundRect">
            <a:avLst>
              <a:gd name="adj" fmla="val 13871445"/>
            </a:avLst>
          </a:prstGeom>
          <a:solidFill>
            <a:srgbClr val="D2600F"/>
          </a:solidFill>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99333" y="1970060"/>
            <a:ext cx="296585" cy="296585"/>
          </a:xfrm>
          <a:prstGeom prst="rect">
            <a:avLst/>
          </a:prstGeom>
        </p:spPr>
      </p:pic>
      <p:sp>
        <p:nvSpPr>
          <p:cNvPr id="9" name="Text 6"/>
          <p:cNvSpPr/>
          <p:nvPr/>
        </p:nvSpPr>
        <p:spPr>
          <a:xfrm>
            <a:off x="7818120" y="2671009"/>
            <a:ext cx="2578060" cy="686514"/>
          </a:xfrm>
          <a:prstGeom prst="rect">
            <a:avLst/>
          </a:prstGeom>
          <a:noFill/>
          <a:ln/>
        </p:spPr>
        <p:txBody>
          <a:bodyPr wrap="square" lIns="0" tIns="0" rIns="0" bIns="0" rtlCol="0" anchor="t"/>
          <a:lstStyle/>
          <a:p>
            <a:pPr marL="0" indent="0" algn="l">
              <a:lnSpc>
                <a:spcPts val="2700"/>
              </a:lnSpc>
              <a:buNone/>
            </a:pPr>
            <a:r>
              <a:rPr lang="en-US" sz="2150">
                <a:solidFill>
                  <a:srgbClr val="2B2E3C"/>
                </a:solidFill>
                <a:latin typeface="Bitter Medium" pitchFamily="34" charset="0"/>
                <a:ea typeface="Bitter Medium" pitchFamily="34" charset="-122"/>
                <a:cs typeface="Bitter Medium" pitchFamily="34" charset="-120"/>
              </a:rPr>
              <a:t>React + Tailwind CSS</a:t>
            </a:r>
            <a:endParaRPr lang="en-US" sz="2150" dirty="0"/>
          </a:p>
        </p:txBody>
      </p:sp>
      <p:sp>
        <p:nvSpPr>
          <p:cNvPr id="10" name="Text 7"/>
          <p:cNvSpPr/>
          <p:nvPr/>
        </p:nvSpPr>
        <p:spPr>
          <a:xfrm>
            <a:off x="7818120" y="3570288"/>
            <a:ext cx="2578060" cy="692229"/>
          </a:xfrm>
          <a:prstGeom prst="rect">
            <a:avLst/>
          </a:prstGeom>
          <a:noFill/>
          <a:ln/>
        </p:spPr>
        <p:txBody>
          <a:bodyPr wrap="square" lIns="0" tIns="0" rIns="0" bIns="0" rtlCol="0" anchor="t"/>
          <a:lstStyle/>
          <a:p>
            <a:pPr marL="0" indent="0" algn="l">
              <a:lnSpc>
                <a:spcPts val="2700"/>
              </a:lnSpc>
              <a:buNone/>
            </a:pPr>
            <a:r>
              <a:rPr lang="en-US" sz="1700">
                <a:solidFill>
                  <a:srgbClr val="2B2E3C"/>
                </a:solidFill>
                <a:latin typeface="Open Sans" pitchFamily="34" charset="0"/>
                <a:ea typeface="Open Sans" pitchFamily="34" charset="-122"/>
                <a:cs typeface="Open Sans" pitchFamily="34" charset="-120"/>
              </a:rPr>
              <a:t>Responsive, accessible UI with utility-first styling</a:t>
            </a:r>
            <a:endParaRPr lang="en-US" sz="1700" dirty="0"/>
          </a:p>
        </p:txBody>
      </p:sp>
      <p:sp>
        <p:nvSpPr>
          <p:cNvPr id="11" name="Shape 8"/>
          <p:cNvSpPr/>
          <p:nvPr/>
        </p:nvSpPr>
        <p:spPr>
          <a:xfrm>
            <a:off x="10836235" y="1571824"/>
            <a:ext cx="3032760" cy="2917984"/>
          </a:xfrm>
          <a:prstGeom prst="roundRect">
            <a:avLst>
              <a:gd name="adj" fmla="val 3163"/>
            </a:avLst>
          </a:prstGeom>
          <a:solidFill>
            <a:srgbClr val="FCE2CF"/>
          </a:solidFill>
          <a:ln w="7620">
            <a:solidFill>
              <a:srgbClr val="E2C8B5"/>
            </a:solidFill>
            <a:prstDash val="solid"/>
          </a:ln>
        </p:spPr>
      </p:sp>
      <p:sp>
        <p:nvSpPr>
          <p:cNvPr id="12" name="Shape 9"/>
          <p:cNvSpPr/>
          <p:nvPr/>
        </p:nvSpPr>
        <p:spPr>
          <a:xfrm>
            <a:off x="11063526" y="1799114"/>
            <a:ext cx="659130" cy="659130"/>
          </a:xfrm>
          <a:prstGeom prst="roundRect">
            <a:avLst>
              <a:gd name="adj" fmla="val 13871445"/>
            </a:avLst>
          </a:prstGeom>
          <a:solidFill>
            <a:srgbClr val="D2600F"/>
          </a:solidFill>
          <a:ln/>
        </p:spPr>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44739" y="1980335"/>
            <a:ext cx="296585" cy="296585"/>
          </a:xfrm>
          <a:prstGeom prst="rect">
            <a:avLst/>
          </a:prstGeom>
        </p:spPr>
      </p:pic>
      <p:sp>
        <p:nvSpPr>
          <p:cNvPr id="14" name="Text 10"/>
          <p:cNvSpPr/>
          <p:nvPr/>
        </p:nvSpPr>
        <p:spPr>
          <a:xfrm>
            <a:off x="11063526" y="2671009"/>
            <a:ext cx="2578179" cy="343257"/>
          </a:xfrm>
          <a:prstGeom prst="rect">
            <a:avLst/>
          </a:prstGeom>
          <a:noFill/>
          <a:ln/>
        </p:spPr>
        <p:txBody>
          <a:bodyPr wrap="none" lIns="0" tIns="0" rIns="0" bIns="0" rtlCol="0" anchor="t"/>
          <a:lstStyle/>
          <a:p>
            <a:pPr marL="0" indent="0" algn="l">
              <a:lnSpc>
                <a:spcPts val="2700"/>
              </a:lnSpc>
              <a:buNone/>
            </a:pPr>
            <a:r>
              <a:rPr lang="en-US" sz="2150">
                <a:solidFill>
                  <a:srgbClr val="2B2E3C"/>
                </a:solidFill>
                <a:latin typeface="Bitter Medium" pitchFamily="34" charset="0"/>
                <a:ea typeface="Bitter Medium" pitchFamily="34" charset="-122"/>
                <a:cs typeface="Bitter Medium" pitchFamily="34" charset="-120"/>
              </a:rPr>
              <a:t>Node.js + Express</a:t>
            </a:r>
            <a:endParaRPr lang="en-US" sz="2150" dirty="0"/>
          </a:p>
        </p:txBody>
      </p:sp>
      <p:sp>
        <p:nvSpPr>
          <p:cNvPr id="15" name="Text 11"/>
          <p:cNvSpPr/>
          <p:nvPr/>
        </p:nvSpPr>
        <p:spPr>
          <a:xfrm>
            <a:off x="11063526" y="3227030"/>
            <a:ext cx="2578179" cy="692229"/>
          </a:xfrm>
          <a:prstGeom prst="rect">
            <a:avLst/>
          </a:prstGeom>
          <a:noFill/>
          <a:ln/>
        </p:spPr>
        <p:txBody>
          <a:bodyPr wrap="square" lIns="0" tIns="0" rIns="0" bIns="0" rtlCol="0" anchor="t"/>
          <a:lstStyle/>
          <a:p>
            <a:pPr marL="0" indent="0" algn="l">
              <a:lnSpc>
                <a:spcPts val="2700"/>
              </a:lnSpc>
              <a:buNone/>
            </a:pPr>
            <a:r>
              <a:rPr lang="en-US" sz="1700">
                <a:solidFill>
                  <a:srgbClr val="2B2E3C"/>
                </a:solidFill>
                <a:latin typeface="Open Sans" pitchFamily="34" charset="0"/>
                <a:ea typeface="Open Sans" pitchFamily="34" charset="-122"/>
                <a:cs typeface="Open Sans" pitchFamily="34" charset="-120"/>
              </a:rPr>
              <a:t>Lightweight REST API for secure data routing</a:t>
            </a:r>
            <a:endParaRPr lang="en-US" sz="1700" dirty="0"/>
          </a:p>
        </p:txBody>
      </p:sp>
      <p:sp>
        <p:nvSpPr>
          <p:cNvPr id="16" name="Shape 12"/>
          <p:cNvSpPr/>
          <p:nvPr/>
        </p:nvSpPr>
        <p:spPr>
          <a:xfrm>
            <a:off x="7590830" y="4702572"/>
            <a:ext cx="3032641" cy="2920841"/>
          </a:xfrm>
          <a:prstGeom prst="roundRect">
            <a:avLst>
              <a:gd name="adj" fmla="val 3160"/>
            </a:avLst>
          </a:prstGeom>
          <a:solidFill>
            <a:srgbClr val="FCE2CF"/>
          </a:solidFill>
          <a:ln w="7620">
            <a:solidFill>
              <a:srgbClr val="E2C8B5"/>
            </a:solidFill>
            <a:prstDash val="solid"/>
          </a:ln>
        </p:spPr>
      </p:sp>
      <p:sp>
        <p:nvSpPr>
          <p:cNvPr id="17" name="Shape 13"/>
          <p:cNvSpPr/>
          <p:nvPr/>
        </p:nvSpPr>
        <p:spPr>
          <a:xfrm>
            <a:off x="7818120" y="4929862"/>
            <a:ext cx="659130" cy="659130"/>
          </a:xfrm>
          <a:prstGeom prst="roundRect">
            <a:avLst>
              <a:gd name="adj" fmla="val 13871445"/>
            </a:avLst>
          </a:prstGeom>
          <a:solidFill>
            <a:srgbClr val="D2600F"/>
          </a:solidFill>
          <a:ln/>
        </p:spPr>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99333" y="5111084"/>
            <a:ext cx="296585" cy="296585"/>
          </a:xfrm>
          <a:prstGeom prst="rect">
            <a:avLst/>
          </a:prstGeom>
        </p:spPr>
      </p:pic>
      <p:sp>
        <p:nvSpPr>
          <p:cNvPr id="19" name="Text 14"/>
          <p:cNvSpPr/>
          <p:nvPr/>
        </p:nvSpPr>
        <p:spPr>
          <a:xfrm>
            <a:off x="7818120" y="5801757"/>
            <a:ext cx="2578060" cy="343257"/>
          </a:xfrm>
          <a:prstGeom prst="rect">
            <a:avLst/>
          </a:prstGeom>
          <a:noFill/>
          <a:ln/>
        </p:spPr>
        <p:txBody>
          <a:bodyPr wrap="none" lIns="0" tIns="0" rIns="0" bIns="0" rtlCol="0" anchor="t"/>
          <a:lstStyle/>
          <a:p>
            <a:pPr marL="0" indent="0" algn="l">
              <a:lnSpc>
                <a:spcPts val="2700"/>
              </a:lnSpc>
              <a:buNone/>
            </a:pPr>
            <a:r>
              <a:rPr lang="en-US" sz="2150">
                <a:solidFill>
                  <a:srgbClr val="2B2E3C"/>
                </a:solidFill>
                <a:latin typeface="Bitter Medium" pitchFamily="34" charset="0"/>
                <a:ea typeface="Bitter Medium" pitchFamily="34" charset="-122"/>
                <a:cs typeface="Bitter Medium" pitchFamily="34" charset="-120"/>
              </a:rPr>
              <a:t>ONNX Runtime</a:t>
            </a:r>
            <a:endParaRPr lang="en-US" sz="2150" dirty="0"/>
          </a:p>
        </p:txBody>
      </p:sp>
      <p:sp>
        <p:nvSpPr>
          <p:cNvPr id="20" name="Text 15"/>
          <p:cNvSpPr/>
          <p:nvPr/>
        </p:nvSpPr>
        <p:spPr>
          <a:xfrm>
            <a:off x="7818120" y="6357779"/>
            <a:ext cx="2578060" cy="1038344"/>
          </a:xfrm>
          <a:prstGeom prst="rect">
            <a:avLst/>
          </a:prstGeom>
          <a:noFill/>
          <a:ln/>
        </p:spPr>
        <p:txBody>
          <a:bodyPr wrap="square" lIns="0" tIns="0" rIns="0" bIns="0" rtlCol="0" anchor="t"/>
          <a:lstStyle/>
          <a:p>
            <a:pPr marL="0" indent="0" algn="l">
              <a:lnSpc>
                <a:spcPts val="2700"/>
              </a:lnSpc>
              <a:buNone/>
            </a:pPr>
            <a:r>
              <a:rPr lang="en-US" sz="1700">
                <a:solidFill>
                  <a:srgbClr val="2B2E3C"/>
                </a:solidFill>
                <a:latin typeface="Open Sans" pitchFamily="34" charset="0"/>
                <a:ea typeface="Open Sans" pitchFamily="34" charset="-122"/>
                <a:cs typeface="Open Sans" pitchFamily="34" charset="-120"/>
              </a:rPr>
              <a:t>Cross-platform ML model inference at low latency</a:t>
            </a:r>
            <a:endParaRPr lang="en-US" sz="1700" dirty="0"/>
          </a:p>
        </p:txBody>
      </p:sp>
      <p:sp>
        <p:nvSpPr>
          <p:cNvPr id="21" name="Shape 16"/>
          <p:cNvSpPr/>
          <p:nvPr/>
        </p:nvSpPr>
        <p:spPr>
          <a:xfrm>
            <a:off x="10836235" y="4702572"/>
            <a:ext cx="3032760" cy="2920841"/>
          </a:xfrm>
          <a:prstGeom prst="roundRect">
            <a:avLst>
              <a:gd name="adj" fmla="val 3160"/>
            </a:avLst>
          </a:prstGeom>
          <a:solidFill>
            <a:srgbClr val="FCE2CF"/>
          </a:solidFill>
          <a:ln w="7620">
            <a:solidFill>
              <a:srgbClr val="E2C8B5"/>
            </a:solidFill>
            <a:prstDash val="solid"/>
          </a:ln>
        </p:spPr>
      </p:sp>
      <p:sp>
        <p:nvSpPr>
          <p:cNvPr id="22" name="Shape 17"/>
          <p:cNvSpPr/>
          <p:nvPr/>
        </p:nvSpPr>
        <p:spPr>
          <a:xfrm>
            <a:off x="11063526" y="4929862"/>
            <a:ext cx="659130" cy="659130"/>
          </a:xfrm>
          <a:prstGeom prst="roundRect">
            <a:avLst>
              <a:gd name="adj" fmla="val 13871445"/>
            </a:avLst>
          </a:prstGeom>
          <a:solidFill>
            <a:srgbClr val="D2600F"/>
          </a:solidFill>
          <a:ln/>
        </p:spPr>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244739" y="5111086"/>
            <a:ext cx="296585" cy="296585"/>
          </a:xfrm>
          <a:prstGeom prst="rect">
            <a:avLst/>
          </a:prstGeom>
        </p:spPr>
      </p:pic>
      <p:sp>
        <p:nvSpPr>
          <p:cNvPr id="24" name="Text 18"/>
          <p:cNvSpPr/>
          <p:nvPr/>
        </p:nvSpPr>
        <p:spPr>
          <a:xfrm>
            <a:off x="11063526" y="5801757"/>
            <a:ext cx="2578179" cy="343257"/>
          </a:xfrm>
          <a:prstGeom prst="rect">
            <a:avLst/>
          </a:prstGeom>
          <a:noFill/>
          <a:ln/>
        </p:spPr>
        <p:txBody>
          <a:bodyPr wrap="none" lIns="0" tIns="0" rIns="0" bIns="0" rtlCol="0" anchor="t"/>
          <a:lstStyle/>
          <a:p>
            <a:pPr marL="0" indent="0" algn="l">
              <a:lnSpc>
                <a:spcPts val="2700"/>
              </a:lnSpc>
              <a:buNone/>
            </a:pPr>
            <a:r>
              <a:rPr lang="en-US" sz="2150">
                <a:solidFill>
                  <a:srgbClr val="2B2E3C"/>
                </a:solidFill>
                <a:latin typeface="Bitter Medium" pitchFamily="34" charset="0"/>
                <a:ea typeface="Bitter Medium" pitchFamily="34" charset="-122"/>
                <a:cs typeface="Bitter Medium" pitchFamily="34" charset="-120"/>
              </a:rPr>
              <a:t>Vercel + Render</a:t>
            </a:r>
            <a:endParaRPr lang="en-US" sz="2150" dirty="0"/>
          </a:p>
        </p:txBody>
      </p:sp>
      <p:sp>
        <p:nvSpPr>
          <p:cNvPr id="25" name="Text 19"/>
          <p:cNvSpPr/>
          <p:nvPr/>
        </p:nvSpPr>
        <p:spPr>
          <a:xfrm>
            <a:off x="11063526" y="6357779"/>
            <a:ext cx="2578179" cy="1038344"/>
          </a:xfrm>
          <a:prstGeom prst="rect">
            <a:avLst/>
          </a:prstGeom>
          <a:noFill/>
          <a:ln/>
        </p:spPr>
        <p:txBody>
          <a:bodyPr wrap="square" lIns="0" tIns="0" rIns="0" bIns="0" rtlCol="0" anchor="t"/>
          <a:lstStyle/>
          <a:p>
            <a:pPr marL="0" indent="0" algn="l">
              <a:lnSpc>
                <a:spcPts val="2700"/>
              </a:lnSpc>
              <a:buNone/>
            </a:pPr>
            <a:r>
              <a:rPr lang="en-US" sz="1700">
                <a:solidFill>
                  <a:srgbClr val="2B2E3C"/>
                </a:solidFill>
                <a:latin typeface="Open Sans" pitchFamily="34" charset="0"/>
                <a:ea typeface="Open Sans" pitchFamily="34" charset="-122"/>
                <a:cs typeface="Open Sans" pitchFamily="34" charset="-120"/>
              </a:rPr>
              <a:t>CI/CD-enabled cloud deployment for frontend and backend</a:t>
            </a:r>
            <a:endParaRPr lang="en-US" sz="1700" dirty="0"/>
          </a:p>
        </p:txBody>
      </p:sp>
      <p:sp>
        <p:nvSpPr>
          <p:cNvPr id="26" name="Rectangle 25">
            <a:extLst>
              <a:ext uri="{FF2B5EF4-FFF2-40B4-BE49-F238E27FC236}">
                <a16:creationId xmlns:a16="http://schemas.microsoft.com/office/drawing/2014/main" id="{6F507D71-6B66-B578-E4FF-DD5E21FFCF2E}"/>
              </a:ext>
            </a:extLst>
          </p:cNvPr>
          <p:cNvSpPr/>
          <p:nvPr/>
        </p:nvSpPr>
        <p:spPr>
          <a:xfrm>
            <a:off x="12596116" y="7664520"/>
            <a:ext cx="1931542" cy="554805"/>
          </a:xfrm>
          <a:prstGeom prst="rect">
            <a:avLst/>
          </a:prstGeom>
          <a:solidFill>
            <a:srgbClr val="FFF8F0"/>
          </a:solidFill>
          <a:ln>
            <a:solidFill>
              <a:srgbClr val="FFF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8" name="Picture 27">
            <a:extLst>
              <a:ext uri="{FF2B5EF4-FFF2-40B4-BE49-F238E27FC236}">
                <a16:creationId xmlns:a16="http://schemas.microsoft.com/office/drawing/2014/main" id="{CD39BE68-477E-AEDB-F8E9-8578029CBDBC}"/>
              </a:ext>
            </a:extLst>
          </p:cNvPr>
          <p:cNvPicPr>
            <a:picLocks noChangeAspect="1"/>
          </p:cNvPicPr>
          <p:nvPr/>
        </p:nvPicPr>
        <p:blipFill>
          <a:blip r:embed="rId7"/>
          <a:stretch>
            <a:fillRect/>
          </a:stretch>
        </p:blipFill>
        <p:spPr>
          <a:xfrm>
            <a:off x="13007951" y="10276"/>
            <a:ext cx="1546017" cy="10887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05179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Results at a Glance</a:t>
            </a:r>
            <a:endParaRPr lang="en-US" sz="4450" dirty="0"/>
          </a:p>
        </p:txBody>
      </p:sp>
      <p:sp>
        <p:nvSpPr>
          <p:cNvPr id="4" name="Shape 1"/>
          <p:cNvSpPr/>
          <p:nvPr/>
        </p:nvSpPr>
        <p:spPr>
          <a:xfrm>
            <a:off x="6280190" y="2100739"/>
            <a:ext cx="7556421" cy="4095988"/>
          </a:xfrm>
          <a:prstGeom prst="roundRect">
            <a:avLst>
              <a:gd name="adj" fmla="val 2326"/>
            </a:avLst>
          </a:prstGeom>
          <a:solidFill>
            <a:srgbClr val="FCE2CF"/>
          </a:solidFill>
          <a:ln w="7620">
            <a:solidFill>
              <a:srgbClr val="E2C8B5"/>
            </a:solidFill>
            <a:prstDash val="solid"/>
          </a:ln>
        </p:spPr>
      </p:sp>
      <p:sp>
        <p:nvSpPr>
          <p:cNvPr id="5" name="Shape 2"/>
          <p:cNvSpPr/>
          <p:nvPr/>
        </p:nvSpPr>
        <p:spPr>
          <a:xfrm>
            <a:off x="6287810" y="2108359"/>
            <a:ext cx="3770590" cy="2403277"/>
          </a:xfrm>
          <a:prstGeom prst="roundRect">
            <a:avLst>
              <a:gd name="adj" fmla="val 3964"/>
            </a:avLst>
          </a:prstGeom>
          <a:solidFill>
            <a:srgbClr val="FCE2CF"/>
          </a:solidFill>
          <a:ln/>
        </p:spPr>
      </p:sp>
      <p:sp>
        <p:nvSpPr>
          <p:cNvPr id="6" name="Text 3"/>
          <p:cNvSpPr/>
          <p:nvPr/>
        </p:nvSpPr>
        <p:spPr>
          <a:xfrm>
            <a:off x="6514624" y="2335173"/>
            <a:ext cx="2835235" cy="36195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Bitter Medium" pitchFamily="34" charset="0"/>
                <a:ea typeface="Bitter Medium" pitchFamily="34" charset="-122"/>
                <a:cs typeface="Bitter Medium" pitchFamily="34" charset="-120"/>
              </a:rPr>
              <a:t>🟢</a:t>
            </a:r>
            <a:r>
              <a:rPr lang="en-US" sz="2200" dirty="0">
                <a:solidFill>
                  <a:srgbClr val="2B2E3C"/>
                </a:solidFill>
                <a:latin typeface="Bitter Medium" pitchFamily="34" charset="0"/>
                <a:ea typeface="Bitter Medium" pitchFamily="34" charset="-122"/>
                <a:cs typeface="Bitter Medium" pitchFamily="34" charset="-120"/>
              </a:rPr>
              <a:t> Low Risk</a:t>
            </a:r>
            <a:endParaRPr lang="en-US" sz="2200" dirty="0"/>
          </a:p>
        </p:txBody>
      </p:sp>
      <p:sp>
        <p:nvSpPr>
          <p:cNvPr id="7" name="Text 4"/>
          <p:cNvSpPr/>
          <p:nvPr/>
        </p:nvSpPr>
        <p:spPr>
          <a:xfrm>
            <a:off x="6514624" y="2833211"/>
            <a:ext cx="3316962" cy="1451610"/>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Patient profile indicates minimal cardiovascular concern — recommended for routine monitoring.</a:t>
            </a:r>
            <a:endParaRPr lang="en-US" sz="1750" dirty="0"/>
          </a:p>
        </p:txBody>
      </p:sp>
      <p:sp>
        <p:nvSpPr>
          <p:cNvPr id="8" name="Shape 5"/>
          <p:cNvSpPr/>
          <p:nvPr/>
        </p:nvSpPr>
        <p:spPr>
          <a:xfrm>
            <a:off x="10058400" y="2108359"/>
            <a:ext cx="3770590" cy="2403277"/>
          </a:xfrm>
          <a:prstGeom prst="rect">
            <a:avLst/>
          </a:prstGeom>
          <a:solidFill>
            <a:srgbClr val="FCE2CF"/>
          </a:solidFill>
          <a:ln/>
        </p:spPr>
      </p:sp>
      <p:sp>
        <p:nvSpPr>
          <p:cNvPr id="9" name="Shape 6"/>
          <p:cNvSpPr/>
          <p:nvPr/>
        </p:nvSpPr>
        <p:spPr>
          <a:xfrm>
            <a:off x="10058400" y="2108359"/>
            <a:ext cx="30480" cy="2403277"/>
          </a:xfrm>
          <a:prstGeom prst="roundRect">
            <a:avLst>
              <a:gd name="adj" fmla="val 312558"/>
            </a:avLst>
          </a:prstGeom>
          <a:solidFill>
            <a:srgbClr val="E2C8B5"/>
          </a:solidFill>
          <a:ln/>
        </p:spPr>
      </p:sp>
      <p:sp>
        <p:nvSpPr>
          <p:cNvPr id="10" name="Text 7"/>
          <p:cNvSpPr/>
          <p:nvPr/>
        </p:nvSpPr>
        <p:spPr>
          <a:xfrm>
            <a:off x="10285214" y="2335173"/>
            <a:ext cx="2835235" cy="36195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Bitter Medium" pitchFamily="34" charset="0"/>
                <a:ea typeface="Bitter Medium" pitchFamily="34" charset="-122"/>
                <a:cs typeface="Bitter Medium" pitchFamily="34" charset="-120"/>
              </a:rPr>
              <a:t>🟡</a:t>
            </a:r>
            <a:r>
              <a:rPr lang="en-US" sz="2200" dirty="0">
                <a:solidFill>
                  <a:srgbClr val="2B2E3C"/>
                </a:solidFill>
                <a:latin typeface="Bitter Medium" pitchFamily="34" charset="0"/>
                <a:ea typeface="Bitter Medium" pitchFamily="34" charset="-122"/>
                <a:cs typeface="Bitter Medium" pitchFamily="34" charset="-120"/>
              </a:rPr>
              <a:t> Medium Risk</a:t>
            </a:r>
            <a:endParaRPr lang="en-US" sz="2200" dirty="0"/>
          </a:p>
        </p:txBody>
      </p:sp>
      <p:sp>
        <p:nvSpPr>
          <p:cNvPr id="11" name="Text 8"/>
          <p:cNvSpPr/>
          <p:nvPr/>
        </p:nvSpPr>
        <p:spPr>
          <a:xfrm>
            <a:off x="10285214" y="2833211"/>
            <a:ext cx="3316962" cy="1088708"/>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Elevated indicators detected — clinician review and lifestyle intervention recommended.</a:t>
            </a:r>
            <a:endParaRPr lang="en-US" sz="1750" dirty="0"/>
          </a:p>
        </p:txBody>
      </p:sp>
      <p:sp>
        <p:nvSpPr>
          <p:cNvPr id="12" name="Shape 9"/>
          <p:cNvSpPr/>
          <p:nvPr/>
        </p:nvSpPr>
        <p:spPr>
          <a:xfrm>
            <a:off x="6287810" y="4511635"/>
            <a:ext cx="7541181" cy="1677472"/>
          </a:xfrm>
          <a:prstGeom prst="rect">
            <a:avLst/>
          </a:prstGeom>
          <a:solidFill>
            <a:srgbClr val="FCE2CF"/>
          </a:solidFill>
          <a:ln/>
        </p:spPr>
      </p:sp>
      <p:sp>
        <p:nvSpPr>
          <p:cNvPr id="13" name="Shape 10"/>
          <p:cNvSpPr/>
          <p:nvPr/>
        </p:nvSpPr>
        <p:spPr>
          <a:xfrm>
            <a:off x="6287810" y="4511635"/>
            <a:ext cx="7541181" cy="30480"/>
          </a:xfrm>
          <a:prstGeom prst="roundRect">
            <a:avLst>
              <a:gd name="adj" fmla="val 312558"/>
            </a:avLst>
          </a:prstGeom>
          <a:solidFill>
            <a:srgbClr val="E2C8B5"/>
          </a:solidFill>
          <a:ln/>
        </p:spPr>
      </p:sp>
      <p:sp>
        <p:nvSpPr>
          <p:cNvPr id="14" name="Text 11"/>
          <p:cNvSpPr/>
          <p:nvPr/>
        </p:nvSpPr>
        <p:spPr>
          <a:xfrm>
            <a:off x="6514624" y="4738449"/>
            <a:ext cx="2835235" cy="36195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Bitter Medium" pitchFamily="34" charset="0"/>
                <a:ea typeface="Bitter Medium" pitchFamily="34" charset="-122"/>
                <a:cs typeface="Bitter Medium" pitchFamily="34" charset="-120"/>
              </a:rPr>
              <a:t>🔴</a:t>
            </a:r>
            <a:r>
              <a:rPr lang="en-US" sz="2200" dirty="0">
                <a:solidFill>
                  <a:srgbClr val="2B2E3C"/>
                </a:solidFill>
                <a:latin typeface="Bitter Medium" pitchFamily="34" charset="0"/>
                <a:ea typeface="Bitter Medium" pitchFamily="34" charset="-122"/>
                <a:cs typeface="Bitter Medium" pitchFamily="34" charset="-120"/>
              </a:rPr>
              <a:t> High Risk</a:t>
            </a:r>
            <a:endParaRPr lang="en-US" sz="2200" dirty="0"/>
          </a:p>
        </p:txBody>
      </p:sp>
      <p:sp>
        <p:nvSpPr>
          <p:cNvPr id="15" name="Text 12"/>
          <p:cNvSpPr/>
          <p:nvPr/>
        </p:nvSpPr>
        <p:spPr>
          <a:xfrm>
            <a:off x="6514624" y="5236488"/>
            <a:ext cx="7087553"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Significant risk factors present — immediate follow-up and advanced diagnostics advised.</a:t>
            </a:r>
            <a:endParaRPr lang="en-US" sz="1750" dirty="0"/>
          </a:p>
        </p:txBody>
      </p:sp>
      <p:sp>
        <p:nvSpPr>
          <p:cNvPr id="16" name="Text 13"/>
          <p:cNvSpPr/>
          <p:nvPr/>
        </p:nvSpPr>
        <p:spPr>
          <a:xfrm>
            <a:off x="6280190" y="6451878"/>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Predictions are returned in under two seconds, with model accuracy validated against benchmark cardiovascular datasets.</a:t>
            </a:r>
            <a:endParaRPr lang="en-US" sz="1750" dirty="0"/>
          </a:p>
        </p:txBody>
      </p:sp>
      <p:sp>
        <p:nvSpPr>
          <p:cNvPr id="17" name="Rectangle 16">
            <a:extLst>
              <a:ext uri="{FF2B5EF4-FFF2-40B4-BE49-F238E27FC236}">
                <a16:creationId xmlns:a16="http://schemas.microsoft.com/office/drawing/2014/main" id="{364F674F-2222-A8E7-A2B9-3F833C55B638}"/>
              </a:ext>
            </a:extLst>
          </p:cNvPr>
          <p:cNvSpPr/>
          <p:nvPr/>
        </p:nvSpPr>
        <p:spPr>
          <a:xfrm>
            <a:off x="12555020" y="7592602"/>
            <a:ext cx="1931542" cy="554805"/>
          </a:xfrm>
          <a:prstGeom prst="rect">
            <a:avLst/>
          </a:prstGeom>
          <a:solidFill>
            <a:srgbClr val="FFF8F0"/>
          </a:solidFill>
          <a:ln>
            <a:solidFill>
              <a:srgbClr val="FFF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8" name="Picture 17">
            <a:extLst>
              <a:ext uri="{FF2B5EF4-FFF2-40B4-BE49-F238E27FC236}">
                <a16:creationId xmlns:a16="http://schemas.microsoft.com/office/drawing/2014/main" id="{8ADEEADE-F124-280A-EB9C-66F06B09D862}"/>
              </a:ext>
            </a:extLst>
          </p:cNvPr>
          <p:cNvPicPr>
            <a:picLocks noChangeAspect="1"/>
          </p:cNvPicPr>
          <p:nvPr/>
        </p:nvPicPr>
        <p:blipFill>
          <a:blip r:embed="rId4"/>
          <a:stretch>
            <a:fillRect/>
          </a:stretch>
        </p:blipFill>
        <p:spPr>
          <a:xfrm>
            <a:off x="13007951" y="10276"/>
            <a:ext cx="1546017" cy="10887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67544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Key Advantages</a:t>
            </a:r>
            <a:endParaRPr lang="en-US" sz="4450" dirty="0"/>
          </a:p>
        </p:txBody>
      </p:sp>
      <p:pic>
        <p:nvPicPr>
          <p:cNvPr id="3" name="Image 0" descr="preencoded.png"/>
          <p:cNvPicPr>
            <a:picLocks noChangeAspect="1"/>
          </p:cNvPicPr>
          <p:nvPr/>
        </p:nvPicPr>
        <p:blipFill>
          <a:blip r:embed="rId3"/>
          <a:stretch>
            <a:fillRect/>
          </a:stretch>
        </p:blipFill>
        <p:spPr>
          <a:xfrm>
            <a:off x="793790" y="2837855"/>
            <a:ext cx="2411968" cy="1490663"/>
          </a:xfrm>
          <a:prstGeom prst="rect">
            <a:avLst/>
          </a:prstGeom>
        </p:spPr>
      </p:pic>
      <p:sp>
        <p:nvSpPr>
          <p:cNvPr id="4" name="Text 1"/>
          <p:cNvSpPr/>
          <p:nvPr/>
        </p:nvSpPr>
        <p:spPr>
          <a:xfrm>
            <a:off x="793790" y="461200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Fast</a:t>
            </a:r>
            <a:endParaRPr lang="en-US" sz="2200" dirty="0"/>
          </a:p>
        </p:txBody>
      </p:sp>
      <p:sp>
        <p:nvSpPr>
          <p:cNvPr id="5" name="Text 2"/>
          <p:cNvSpPr/>
          <p:nvPr/>
        </p:nvSpPr>
        <p:spPr>
          <a:xfrm>
            <a:off x="793790" y="5102423"/>
            <a:ext cx="4158615" cy="1451610"/>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Sub-second inference means clinicians receive risk scores instantly — no bottlenecks, no waiting rooms left in the dark.</a:t>
            </a:r>
            <a:endParaRPr lang="en-US" sz="1750" dirty="0"/>
          </a:p>
        </p:txBody>
      </p:sp>
      <p:pic>
        <p:nvPicPr>
          <p:cNvPr id="6" name="Image 1" descr="preencoded.png"/>
          <p:cNvPicPr>
            <a:picLocks noChangeAspect="1"/>
          </p:cNvPicPr>
          <p:nvPr/>
        </p:nvPicPr>
        <p:blipFill>
          <a:blip r:embed="rId4"/>
          <a:stretch>
            <a:fillRect/>
          </a:stretch>
        </p:blipFill>
        <p:spPr>
          <a:xfrm>
            <a:off x="5235893" y="2837855"/>
            <a:ext cx="2411968" cy="1490663"/>
          </a:xfrm>
          <a:prstGeom prst="rect">
            <a:avLst/>
          </a:prstGeom>
        </p:spPr>
      </p:pic>
      <p:sp>
        <p:nvSpPr>
          <p:cNvPr id="7" name="Text 3"/>
          <p:cNvSpPr/>
          <p:nvPr/>
        </p:nvSpPr>
        <p:spPr>
          <a:xfrm>
            <a:off x="5235893" y="461200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Secure</a:t>
            </a:r>
            <a:endParaRPr lang="en-US" sz="2200" dirty="0"/>
          </a:p>
        </p:txBody>
      </p:sp>
      <p:sp>
        <p:nvSpPr>
          <p:cNvPr id="8" name="Text 4"/>
          <p:cNvSpPr/>
          <p:nvPr/>
        </p:nvSpPr>
        <p:spPr>
          <a:xfrm>
            <a:off x="5235893" y="5102423"/>
            <a:ext cx="4158615" cy="1451610"/>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Patient data is handled with strict privacy standards. No sensitive information is stored post-inference, minimizing exposure.</a:t>
            </a:r>
            <a:endParaRPr lang="en-US" sz="1750" dirty="0"/>
          </a:p>
        </p:txBody>
      </p:sp>
      <p:pic>
        <p:nvPicPr>
          <p:cNvPr id="9" name="Image 2" descr="preencoded.png"/>
          <p:cNvPicPr>
            <a:picLocks noChangeAspect="1"/>
          </p:cNvPicPr>
          <p:nvPr/>
        </p:nvPicPr>
        <p:blipFill>
          <a:blip r:embed="rId5"/>
          <a:stretch>
            <a:fillRect/>
          </a:stretch>
        </p:blipFill>
        <p:spPr>
          <a:xfrm>
            <a:off x="9677995" y="2837855"/>
            <a:ext cx="2411968" cy="1490663"/>
          </a:xfrm>
          <a:prstGeom prst="rect">
            <a:avLst/>
          </a:prstGeom>
        </p:spPr>
      </p:pic>
      <p:sp>
        <p:nvSpPr>
          <p:cNvPr id="10" name="Text 5"/>
          <p:cNvSpPr/>
          <p:nvPr/>
        </p:nvSpPr>
        <p:spPr>
          <a:xfrm>
            <a:off x="9677995" y="461200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Accessible</a:t>
            </a:r>
            <a:endParaRPr lang="en-US" sz="2200" dirty="0"/>
          </a:p>
        </p:txBody>
      </p:sp>
      <p:sp>
        <p:nvSpPr>
          <p:cNvPr id="11" name="Text 6"/>
          <p:cNvSpPr/>
          <p:nvPr/>
        </p:nvSpPr>
        <p:spPr>
          <a:xfrm>
            <a:off x="9677995" y="5102423"/>
            <a:ext cx="4158615" cy="1451610"/>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Fully browser-based and mobile-responsive — available to clinicians and patients regardless of location or device.</a:t>
            </a:r>
            <a:endParaRPr lang="en-US" sz="1750" dirty="0"/>
          </a:p>
        </p:txBody>
      </p:sp>
      <p:sp>
        <p:nvSpPr>
          <p:cNvPr id="12" name="Rectangle 11">
            <a:extLst>
              <a:ext uri="{FF2B5EF4-FFF2-40B4-BE49-F238E27FC236}">
                <a16:creationId xmlns:a16="http://schemas.microsoft.com/office/drawing/2014/main" id="{6F33EFCE-921D-0422-D013-A2FB1B062800}"/>
              </a:ext>
            </a:extLst>
          </p:cNvPr>
          <p:cNvSpPr/>
          <p:nvPr/>
        </p:nvSpPr>
        <p:spPr>
          <a:xfrm>
            <a:off x="12555020" y="7592602"/>
            <a:ext cx="1931542" cy="554805"/>
          </a:xfrm>
          <a:prstGeom prst="rect">
            <a:avLst/>
          </a:prstGeom>
          <a:solidFill>
            <a:srgbClr val="FFF8F0"/>
          </a:solidFill>
          <a:ln>
            <a:solidFill>
              <a:srgbClr val="FFF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114B4608-3BCB-B2B6-C46A-94DFF75D4C20}"/>
              </a:ext>
            </a:extLst>
          </p:cNvPr>
          <p:cNvPicPr>
            <a:picLocks noChangeAspect="1"/>
          </p:cNvPicPr>
          <p:nvPr/>
        </p:nvPicPr>
        <p:blipFill>
          <a:blip r:embed="rId6"/>
          <a:stretch>
            <a:fillRect/>
          </a:stretch>
        </p:blipFill>
        <p:spPr>
          <a:xfrm>
            <a:off x="13007951" y="10276"/>
            <a:ext cx="1546017" cy="108870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93790" y="1397867"/>
            <a:ext cx="1416129" cy="426244"/>
          </a:xfrm>
          <a:prstGeom prst="roundRect">
            <a:avLst>
              <a:gd name="adj" fmla="val 17880"/>
            </a:avLst>
          </a:prstGeom>
          <a:solidFill>
            <a:srgbClr val="FCE2CF"/>
          </a:solidFill>
          <a:ln/>
        </p:spPr>
      </p:sp>
      <p:sp>
        <p:nvSpPr>
          <p:cNvPr id="3" name="Text 1"/>
          <p:cNvSpPr/>
          <p:nvPr/>
        </p:nvSpPr>
        <p:spPr>
          <a:xfrm>
            <a:off x="929878" y="1465852"/>
            <a:ext cx="1143953" cy="290274"/>
          </a:xfrm>
          <a:prstGeom prst="rect">
            <a:avLst/>
          </a:prstGeom>
          <a:noFill/>
          <a:ln/>
        </p:spPr>
        <p:txBody>
          <a:bodyPr wrap="none" lIns="0" tIns="0" rIns="0" bIns="0" rtlCol="0" anchor="t"/>
          <a:lstStyle/>
          <a:p>
            <a:pPr marL="0" indent="0" algn="l">
              <a:lnSpc>
                <a:spcPts val="2250"/>
              </a:lnSpc>
              <a:buNone/>
            </a:pPr>
            <a:r>
              <a:rPr lang="en-US" sz="1400" dirty="0">
                <a:solidFill>
                  <a:srgbClr val="2B2E3C"/>
                </a:solidFill>
                <a:latin typeface="Open Sans" pitchFamily="34" charset="0"/>
                <a:ea typeface="Open Sans" pitchFamily="34" charset="-122"/>
                <a:cs typeface="Open Sans" pitchFamily="34" charset="-120"/>
              </a:rPr>
              <a:t>WHAT'S NEXT</a:t>
            </a:r>
            <a:endParaRPr lang="en-US" sz="1400" dirty="0"/>
          </a:p>
        </p:txBody>
      </p:sp>
      <p:sp>
        <p:nvSpPr>
          <p:cNvPr id="4" name="Text 2"/>
          <p:cNvSpPr/>
          <p:nvPr/>
        </p:nvSpPr>
        <p:spPr>
          <a:xfrm>
            <a:off x="793790" y="199702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Future Scope</a:t>
            </a:r>
            <a:endParaRPr lang="en-US" sz="4450" dirty="0"/>
          </a:p>
        </p:txBody>
      </p:sp>
      <p:sp>
        <p:nvSpPr>
          <p:cNvPr id="5" name="Text 3"/>
          <p:cNvSpPr/>
          <p:nvPr/>
        </p:nvSpPr>
        <p:spPr>
          <a:xfrm>
            <a:off x="814338" y="2840156"/>
            <a:ext cx="6244709" cy="1451610"/>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The CVD Risk Predictor is built for growth. The roadmap ahead focuses on deeper integration, broader reach, and collaborative care — evolving from a standalone tool into a connected clinical ecosystem.</a:t>
            </a:r>
            <a:endParaRPr lang="en-US" sz="1750" dirty="0"/>
          </a:p>
        </p:txBody>
      </p:sp>
      <p:sp>
        <p:nvSpPr>
          <p:cNvPr id="6" name="Shape 4"/>
          <p:cNvSpPr/>
          <p:nvPr/>
        </p:nvSpPr>
        <p:spPr>
          <a:xfrm>
            <a:off x="7826335" y="1625009"/>
            <a:ext cx="226814" cy="1783199"/>
          </a:xfrm>
          <a:prstGeom prst="roundRect">
            <a:avLst>
              <a:gd name="adj" fmla="val 42003"/>
            </a:avLst>
          </a:prstGeom>
          <a:solidFill>
            <a:srgbClr val="FCE2CF"/>
          </a:solidFill>
          <a:ln w="7620">
            <a:solidFill>
              <a:srgbClr val="E2C8B5"/>
            </a:solidFill>
            <a:prstDash val="solid"/>
          </a:ln>
        </p:spPr>
      </p:sp>
      <p:sp>
        <p:nvSpPr>
          <p:cNvPr id="7" name="Shape 5"/>
          <p:cNvSpPr/>
          <p:nvPr/>
        </p:nvSpPr>
        <p:spPr>
          <a:xfrm>
            <a:off x="7599521" y="1476181"/>
            <a:ext cx="680442" cy="680442"/>
          </a:xfrm>
          <a:prstGeom prst="roundRect">
            <a:avLst>
              <a:gd name="adj" fmla="val 67192"/>
            </a:avLst>
          </a:prstGeom>
          <a:solidFill>
            <a:srgbClr val="FCE2CF"/>
          </a:solidFill>
          <a:ln w="7620">
            <a:solidFill>
              <a:srgbClr val="E2C8B5"/>
            </a:solidFill>
            <a:prstDash val="solid"/>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69662" y="1646321"/>
            <a:ext cx="340162" cy="340162"/>
          </a:xfrm>
          <a:prstGeom prst="rect">
            <a:avLst/>
          </a:prstGeom>
        </p:spPr>
      </p:pic>
      <p:sp>
        <p:nvSpPr>
          <p:cNvPr id="9" name="Text 6"/>
          <p:cNvSpPr/>
          <p:nvPr/>
        </p:nvSpPr>
        <p:spPr>
          <a:xfrm>
            <a:off x="8506778" y="151166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Doctor Integration</a:t>
            </a:r>
            <a:endParaRPr lang="en-US" sz="2200" dirty="0"/>
          </a:p>
        </p:txBody>
      </p:sp>
      <p:sp>
        <p:nvSpPr>
          <p:cNvPr id="10" name="Text 7"/>
          <p:cNvSpPr/>
          <p:nvPr/>
        </p:nvSpPr>
        <p:spPr>
          <a:xfrm>
            <a:off x="8506778" y="2092805"/>
            <a:ext cx="5337453" cy="1088708"/>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Connect predictions directly to EHR systems, enabling physicians to act on risk scores within their existing workflows.</a:t>
            </a:r>
            <a:endParaRPr lang="en-US" sz="1750" dirty="0"/>
          </a:p>
        </p:txBody>
      </p:sp>
      <p:sp>
        <p:nvSpPr>
          <p:cNvPr id="11" name="Shape 8"/>
          <p:cNvSpPr/>
          <p:nvPr/>
        </p:nvSpPr>
        <p:spPr>
          <a:xfrm>
            <a:off x="8166497" y="3975302"/>
            <a:ext cx="226814" cy="1420297"/>
          </a:xfrm>
          <a:prstGeom prst="roundRect">
            <a:avLst>
              <a:gd name="adj" fmla="val 42003"/>
            </a:avLst>
          </a:prstGeom>
          <a:solidFill>
            <a:srgbClr val="FCE2CF"/>
          </a:solidFill>
          <a:ln w="7620">
            <a:solidFill>
              <a:srgbClr val="E2C8B5"/>
            </a:solidFill>
            <a:prstDash val="solid"/>
          </a:ln>
        </p:spPr>
      </p:sp>
      <p:sp>
        <p:nvSpPr>
          <p:cNvPr id="12" name="Shape 9"/>
          <p:cNvSpPr/>
          <p:nvPr/>
        </p:nvSpPr>
        <p:spPr>
          <a:xfrm>
            <a:off x="7939683" y="3826474"/>
            <a:ext cx="680442" cy="680442"/>
          </a:xfrm>
          <a:prstGeom prst="roundRect">
            <a:avLst>
              <a:gd name="adj" fmla="val 67192"/>
            </a:avLst>
          </a:prstGeom>
          <a:solidFill>
            <a:srgbClr val="FCE2CF"/>
          </a:solidFill>
          <a:ln w="7620">
            <a:solidFill>
              <a:srgbClr val="E2C8B5"/>
            </a:solidFill>
            <a:prstDash val="solid"/>
          </a:ln>
        </p:spPr>
        <p:txBody>
          <a:bodyPr/>
          <a:lstStyle/>
          <a:p>
            <a:endParaRPr lang="en-IN" dirty="0"/>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09823" y="3986347"/>
            <a:ext cx="340162" cy="340162"/>
          </a:xfrm>
          <a:prstGeom prst="rect">
            <a:avLst/>
          </a:prstGeom>
        </p:spPr>
      </p:pic>
      <p:sp>
        <p:nvSpPr>
          <p:cNvPr id="14" name="Text 10"/>
          <p:cNvSpPr/>
          <p:nvPr/>
        </p:nvSpPr>
        <p:spPr>
          <a:xfrm>
            <a:off x="8846939" y="386195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Mobile App</a:t>
            </a:r>
            <a:endParaRPr lang="en-US" sz="2200" dirty="0"/>
          </a:p>
        </p:txBody>
      </p:sp>
      <p:sp>
        <p:nvSpPr>
          <p:cNvPr id="15" name="Text 11"/>
          <p:cNvSpPr/>
          <p:nvPr/>
        </p:nvSpPr>
        <p:spPr>
          <a:xfrm>
            <a:off x="8846939" y="4443099"/>
            <a:ext cx="4997291"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A dedicated iOS and Android app will bring risk screening to patients wherever they are.</a:t>
            </a:r>
            <a:endParaRPr lang="en-US" sz="1750" dirty="0"/>
          </a:p>
        </p:txBody>
      </p:sp>
      <p:sp>
        <p:nvSpPr>
          <p:cNvPr id="16" name="Shape 12"/>
          <p:cNvSpPr/>
          <p:nvPr/>
        </p:nvSpPr>
        <p:spPr>
          <a:xfrm>
            <a:off x="8506778" y="5962694"/>
            <a:ext cx="226814" cy="1783199"/>
          </a:xfrm>
          <a:prstGeom prst="roundRect">
            <a:avLst>
              <a:gd name="adj" fmla="val 42003"/>
            </a:avLst>
          </a:prstGeom>
          <a:solidFill>
            <a:srgbClr val="FCE2CF"/>
          </a:solidFill>
          <a:ln w="7620">
            <a:solidFill>
              <a:srgbClr val="E2C8B5"/>
            </a:solidFill>
            <a:prstDash val="solid"/>
          </a:ln>
        </p:spPr>
      </p:sp>
      <p:sp>
        <p:nvSpPr>
          <p:cNvPr id="17" name="Shape 13"/>
          <p:cNvSpPr/>
          <p:nvPr/>
        </p:nvSpPr>
        <p:spPr>
          <a:xfrm>
            <a:off x="8279963" y="5813866"/>
            <a:ext cx="680442" cy="680442"/>
          </a:xfrm>
          <a:prstGeom prst="roundRect">
            <a:avLst>
              <a:gd name="adj" fmla="val 67192"/>
            </a:avLst>
          </a:prstGeom>
          <a:solidFill>
            <a:srgbClr val="FCE2CF"/>
          </a:solidFill>
          <a:ln w="7620">
            <a:solidFill>
              <a:srgbClr val="E2C8B5"/>
            </a:solidFill>
            <a:prstDash val="solid"/>
          </a:ln>
        </p:spPr>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50104" y="5963463"/>
            <a:ext cx="340162" cy="340162"/>
          </a:xfrm>
          <a:prstGeom prst="rect">
            <a:avLst/>
          </a:prstGeom>
        </p:spPr>
      </p:pic>
      <p:sp>
        <p:nvSpPr>
          <p:cNvPr id="19" name="Text 14"/>
          <p:cNvSpPr/>
          <p:nvPr/>
        </p:nvSpPr>
        <p:spPr>
          <a:xfrm>
            <a:off x="9187220" y="584934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Wearable Integration</a:t>
            </a:r>
            <a:endParaRPr lang="en-US" sz="2200" dirty="0"/>
          </a:p>
        </p:txBody>
      </p:sp>
      <p:sp>
        <p:nvSpPr>
          <p:cNvPr id="20" name="Text 15"/>
          <p:cNvSpPr/>
          <p:nvPr/>
        </p:nvSpPr>
        <p:spPr>
          <a:xfrm>
            <a:off x="9187220" y="6430490"/>
            <a:ext cx="4657011" cy="1088708"/>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Sync real-time biometric data from wearables to enable continuous, passive cardiovascular monitoring.</a:t>
            </a:r>
            <a:endParaRPr lang="en-US" sz="1750" dirty="0"/>
          </a:p>
        </p:txBody>
      </p:sp>
      <p:sp>
        <p:nvSpPr>
          <p:cNvPr id="21" name="Rectangle 20">
            <a:extLst>
              <a:ext uri="{FF2B5EF4-FFF2-40B4-BE49-F238E27FC236}">
                <a16:creationId xmlns:a16="http://schemas.microsoft.com/office/drawing/2014/main" id="{36E663B2-3140-93E1-0AED-D96DAFB33E0F}"/>
              </a:ext>
            </a:extLst>
          </p:cNvPr>
          <p:cNvSpPr/>
          <p:nvPr/>
        </p:nvSpPr>
        <p:spPr>
          <a:xfrm>
            <a:off x="12555020" y="7592602"/>
            <a:ext cx="1931542" cy="554805"/>
          </a:xfrm>
          <a:prstGeom prst="rect">
            <a:avLst/>
          </a:prstGeom>
          <a:solidFill>
            <a:srgbClr val="FFF8F0"/>
          </a:solidFill>
          <a:ln>
            <a:solidFill>
              <a:srgbClr val="FFF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22">
            <a:extLst>
              <a:ext uri="{FF2B5EF4-FFF2-40B4-BE49-F238E27FC236}">
                <a16:creationId xmlns:a16="http://schemas.microsoft.com/office/drawing/2014/main" id="{B7890385-F002-D647-AF66-FCA2600CAE2D}"/>
              </a:ext>
            </a:extLst>
          </p:cNvPr>
          <p:cNvPicPr>
            <a:picLocks noChangeAspect="1"/>
          </p:cNvPicPr>
          <p:nvPr/>
        </p:nvPicPr>
        <p:blipFill>
          <a:blip r:embed="rId6"/>
          <a:stretch>
            <a:fillRect/>
          </a:stretch>
        </p:blipFill>
        <p:spPr>
          <a:xfrm>
            <a:off x="13007951" y="10276"/>
            <a:ext cx="1546017" cy="10887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C35F1-5C8D-D109-F23F-356E58C3F9A0}"/>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E062F1D6-993B-CF1A-9500-BEA5942257F6}"/>
              </a:ext>
            </a:extLst>
          </p:cNvPr>
          <p:cNvSpPr/>
          <p:nvPr/>
        </p:nvSpPr>
        <p:spPr>
          <a:xfrm>
            <a:off x="793790" y="1914837"/>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rPr>
              <a:t>Conclusion</a:t>
            </a:r>
            <a:endParaRPr lang="en-US" sz="4450" dirty="0"/>
          </a:p>
        </p:txBody>
      </p:sp>
      <p:sp>
        <p:nvSpPr>
          <p:cNvPr id="21" name="Rectangle 20">
            <a:extLst>
              <a:ext uri="{FF2B5EF4-FFF2-40B4-BE49-F238E27FC236}">
                <a16:creationId xmlns:a16="http://schemas.microsoft.com/office/drawing/2014/main" id="{627730E7-31A1-E681-E0AC-C2231FDAE760}"/>
              </a:ext>
            </a:extLst>
          </p:cNvPr>
          <p:cNvSpPr/>
          <p:nvPr/>
        </p:nvSpPr>
        <p:spPr>
          <a:xfrm>
            <a:off x="12555020" y="7592602"/>
            <a:ext cx="1931542" cy="554805"/>
          </a:xfrm>
          <a:prstGeom prst="rect">
            <a:avLst/>
          </a:prstGeom>
          <a:solidFill>
            <a:srgbClr val="FFF8F0"/>
          </a:solidFill>
          <a:ln>
            <a:solidFill>
              <a:srgbClr val="FFF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1">
            <a:extLst>
              <a:ext uri="{FF2B5EF4-FFF2-40B4-BE49-F238E27FC236}">
                <a16:creationId xmlns:a16="http://schemas.microsoft.com/office/drawing/2014/main" id="{79AA547A-5779-2455-5B6C-841CAF6F5DBA}"/>
              </a:ext>
            </a:extLst>
          </p:cNvPr>
          <p:cNvSpPr txBox="1">
            <a:spLocks noChangeArrowheads="1"/>
          </p:cNvSpPr>
          <p:nvPr/>
        </p:nvSpPr>
        <p:spPr bwMode="auto">
          <a:xfrm>
            <a:off x="752694" y="2110466"/>
            <a:ext cx="12418776" cy="3884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0" fontAlgn="base" hangingPunct="0">
              <a:lnSpc>
                <a:spcPct val="200000"/>
              </a:lnSpc>
              <a:spcBef>
                <a:spcPct val="0"/>
              </a:spcBef>
              <a:spcAft>
                <a:spcPct val="0"/>
              </a:spcAft>
              <a:buFontTx/>
              <a:buNone/>
            </a:pPr>
            <a:endParaRPr lang="en-US" altLang="en-US" sz="1800" dirty="0">
              <a:latin typeface="Open Sans" panose="020B0606030504020204" pitchFamily="34" charset="0"/>
              <a:ea typeface="Open Sans" panose="020B0606030504020204" pitchFamily="34" charset="0"/>
              <a:cs typeface="Open Sans" panose="020B0606030504020204" pitchFamily="34" charset="0"/>
            </a:endParaRPr>
          </a:p>
          <a:p>
            <a:pPr marL="0" indent="0" eaLnBrk="0" fontAlgn="base" hangingPunct="0">
              <a:lnSpc>
                <a:spcPct val="200000"/>
              </a:lnSpc>
              <a:spcBef>
                <a:spcPct val="0"/>
              </a:spcBef>
              <a:spcAft>
                <a:spcPct val="0"/>
              </a:spcAft>
              <a:buFontTx/>
              <a:buChar char="•"/>
            </a:pPr>
            <a:r>
              <a:rPr lang="en-US" altLang="en-US" sz="1800" dirty="0">
                <a:latin typeface="Open Sans" panose="020B0606030504020204" pitchFamily="34" charset="0"/>
                <a:ea typeface="Open Sans" panose="020B0606030504020204" pitchFamily="34" charset="0"/>
                <a:cs typeface="Open Sans" panose="020B0606030504020204" pitchFamily="34" charset="0"/>
              </a:rPr>
              <a:t>The </a:t>
            </a:r>
            <a:r>
              <a:rPr lang="en-US" altLang="en-US" sz="1800" b="1" dirty="0">
                <a:latin typeface="Open Sans" panose="020B0606030504020204" pitchFamily="34" charset="0"/>
                <a:ea typeface="Open Sans" panose="020B0606030504020204" pitchFamily="34" charset="0"/>
                <a:cs typeface="Open Sans" panose="020B0606030504020204" pitchFamily="34" charset="0"/>
              </a:rPr>
              <a:t>CVD Risk Predictor</a:t>
            </a:r>
            <a:r>
              <a:rPr lang="en-US" altLang="en-US" sz="1800" dirty="0">
                <a:latin typeface="Open Sans" panose="020B0606030504020204" pitchFamily="34" charset="0"/>
                <a:ea typeface="Open Sans" panose="020B0606030504020204" pitchFamily="34" charset="0"/>
                <a:cs typeface="Open Sans" panose="020B0606030504020204" pitchFamily="34" charset="0"/>
              </a:rPr>
              <a:t> successfully demonstrates how AI can be used for early detection of heart disease. </a:t>
            </a:r>
          </a:p>
          <a:p>
            <a:pPr marL="0" indent="0" eaLnBrk="0" fontAlgn="base" hangingPunct="0">
              <a:lnSpc>
                <a:spcPct val="200000"/>
              </a:lnSpc>
              <a:spcBef>
                <a:spcPct val="0"/>
              </a:spcBef>
              <a:spcAft>
                <a:spcPct val="0"/>
              </a:spcAft>
              <a:buFontTx/>
              <a:buChar char="•"/>
            </a:pPr>
            <a:r>
              <a:rPr lang="en-US" altLang="en-US" sz="1800" dirty="0">
                <a:latin typeface="Open Sans" panose="020B0606030504020204" pitchFamily="34" charset="0"/>
                <a:ea typeface="Open Sans" panose="020B0606030504020204" pitchFamily="34" charset="0"/>
                <a:cs typeface="Open Sans" panose="020B0606030504020204" pitchFamily="34" charset="0"/>
              </a:rPr>
              <a:t>The system provides </a:t>
            </a:r>
            <a:r>
              <a:rPr lang="en-US" altLang="en-US" sz="1800" b="1" dirty="0">
                <a:latin typeface="Open Sans" panose="020B0606030504020204" pitchFamily="34" charset="0"/>
                <a:ea typeface="Open Sans" panose="020B0606030504020204" pitchFamily="34" charset="0"/>
                <a:cs typeface="Open Sans" panose="020B0606030504020204" pitchFamily="34" charset="0"/>
              </a:rPr>
              <a:t>fast, accurate, and real-time risk assessment</a:t>
            </a:r>
            <a:r>
              <a:rPr lang="en-US" altLang="en-US" sz="1800" dirty="0">
                <a:latin typeface="Open Sans" panose="020B0606030504020204" pitchFamily="34" charset="0"/>
                <a:ea typeface="Open Sans" panose="020B0606030504020204" pitchFamily="34" charset="0"/>
                <a:cs typeface="Open Sans" panose="020B0606030504020204" pitchFamily="34" charset="0"/>
              </a:rPr>
              <a:t> using clinical and lifestyle data. </a:t>
            </a:r>
          </a:p>
          <a:p>
            <a:pPr marL="0" indent="0" eaLnBrk="0" fontAlgn="base" hangingPunct="0">
              <a:lnSpc>
                <a:spcPct val="200000"/>
              </a:lnSpc>
              <a:spcBef>
                <a:spcPct val="0"/>
              </a:spcBef>
              <a:spcAft>
                <a:spcPct val="0"/>
              </a:spcAft>
              <a:buFontTx/>
              <a:buChar char="•"/>
            </a:pPr>
            <a:r>
              <a:rPr lang="en-US" altLang="en-US" sz="1800" dirty="0">
                <a:latin typeface="Open Sans" panose="020B0606030504020204" pitchFamily="34" charset="0"/>
                <a:ea typeface="Open Sans" panose="020B0606030504020204" pitchFamily="34" charset="0"/>
                <a:cs typeface="Open Sans" panose="020B0606030504020204" pitchFamily="34" charset="0"/>
              </a:rPr>
              <a:t>Its </a:t>
            </a:r>
            <a:r>
              <a:rPr lang="en-US" altLang="en-US" sz="1800" b="1" dirty="0">
                <a:latin typeface="Open Sans" panose="020B0606030504020204" pitchFamily="34" charset="0"/>
                <a:ea typeface="Open Sans" panose="020B0606030504020204" pitchFamily="34" charset="0"/>
                <a:cs typeface="Open Sans" panose="020B0606030504020204" pitchFamily="34" charset="0"/>
              </a:rPr>
              <a:t>user-friendly web interface</a:t>
            </a:r>
            <a:r>
              <a:rPr lang="en-US" altLang="en-US" sz="1800" dirty="0">
                <a:latin typeface="Open Sans" panose="020B0606030504020204" pitchFamily="34" charset="0"/>
                <a:ea typeface="Open Sans" panose="020B0606030504020204" pitchFamily="34" charset="0"/>
                <a:cs typeface="Open Sans" panose="020B0606030504020204" pitchFamily="34" charset="0"/>
              </a:rPr>
              <a:t> makes it accessible to a wide range of users without medical expertise. </a:t>
            </a:r>
          </a:p>
          <a:p>
            <a:pPr marL="0" indent="0" eaLnBrk="0" fontAlgn="base" hangingPunct="0">
              <a:lnSpc>
                <a:spcPct val="200000"/>
              </a:lnSpc>
              <a:spcBef>
                <a:spcPct val="0"/>
              </a:spcBef>
              <a:spcAft>
                <a:spcPct val="0"/>
              </a:spcAft>
              <a:buFontTx/>
              <a:buChar char="•"/>
            </a:pPr>
            <a:r>
              <a:rPr lang="en-US" altLang="en-US" sz="1800" dirty="0">
                <a:latin typeface="Open Sans" panose="020B0606030504020204" pitchFamily="34" charset="0"/>
                <a:ea typeface="Open Sans" panose="020B0606030504020204" pitchFamily="34" charset="0"/>
                <a:cs typeface="Open Sans" panose="020B0606030504020204" pitchFamily="34" charset="0"/>
              </a:rPr>
              <a:t>The project promotes </a:t>
            </a:r>
            <a:r>
              <a:rPr lang="en-US" altLang="en-US" sz="1800" b="1" dirty="0">
                <a:latin typeface="Open Sans" panose="020B0606030504020204" pitchFamily="34" charset="0"/>
                <a:ea typeface="Open Sans" panose="020B0606030504020204" pitchFamily="34" charset="0"/>
                <a:cs typeface="Open Sans" panose="020B0606030504020204" pitchFamily="34" charset="0"/>
              </a:rPr>
              <a:t>preventive healthcare</a:t>
            </a:r>
            <a:r>
              <a:rPr lang="en-US" altLang="en-US" sz="1800" dirty="0">
                <a:latin typeface="Open Sans" panose="020B0606030504020204" pitchFamily="34" charset="0"/>
                <a:ea typeface="Open Sans" panose="020B0606030504020204" pitchFamily="34" charset="0"/>
                <a:cs typeface="Open Sans" panose="020B0606030504020204" pitchFamily="34" charset="0"/>
              </a:rPr>
              <a:t> by helping users take timely action. </a:t>
            </a:r>
          </a:p>
          <a:p>
            <a:pPr marL="0" indent="0" eaLnBrk="0" fontAlgn="base" hangingPunct="0">
              <a:lnSpc>
                <a:spcPct val="200000"/>
              </a:lnSpc>
              <a:spcBef>
                <a:spcPct val="0"/>
              </a:spcBef>
              <a:spcAft>
                <a:spcPct val="0"/>
              </a:spcAft>
              <a:buFontTx/>
              <a:buChar char="•"/>
            </a:pPr>
            <a:r>
              <a:rPr lang="en-US" altLang="en-US" sz="1800" dirty="0">
                <a:latin typeface="Open Sans" panose="020B0606030504020204" pitchFamily="34" charset="0"/>
                <a:ea typeface="Open Sans" panose="020B0606030504020204" pitchFamily="34" charset="0"/>
                <a:cs typeface="Open Sans" panose="020B0606030504020204" pitchFamily="34" charset="0"/>
              </a:rPr>
              <a:t>Overall, it shows the potential of combining </a:t>
            </a:r>
            <a:r>
              <a:rPr lang="en-US" altLang="en-US" sz="1750" b="1" dirty="0">
                <a:latin typeface="Open Sans" panose="020B0606030504020204" pitchFamily="34" charset="0"/>
                <a:ea typeface="Open Sans" panose="020B0606030504020204" pitchFamily="34" charset="0"/>
                <a:cs typeface="Open Sans" panose="020B0606030504020204" pitchFamily="34" charset="0"/>
              </a:rPr>
              <a:t>machine</a:t>
            </a:r>
            <a:r>
              <a:rPr lang="en-US" altLang="en-US" sz="1800" b="1" dirty="0">
                <a:latin typeface="Open Sans" panose="020B0606030504020204" pitchFamily="34" charset="0"/>
                <a:ea typeface="Open Sans" panose="020B0606030504020204" pitchFamily="34" charset="0"/>
                <a:cs typeface="Open Sans" panose="020B0606030504020204" pitchFamily="34" charset="0"/>
              </a:rPr>
              <a:t> learning and modern web technologies</a:t>
            </a:r>
            <a:r>
              <a:rPr lang="en-US" altLang="en-US" sz="1800" dirty="0">
                <a:latin typeface="Open Sans" panose="020B0606030504020204" pitchFamily="34" charset="0"/>
                <a:ea typeface="Open Sans" panose="020B0606030504020204" pitchFamily="34" charset="0"/>
                <a:cs typeface="Open Sans" panose="020B0606030504020204" pitchFamily="34" charset="0"/>
              </a:rPr>
              <a:t> to improve healthcare accessibility and efficiency. </a:t>
            </a:r>
          </a:p>
        </p:txBody>
      </p:sp>
      <p:pic>
        <p:nvPicPr>
          <p:cNvPr id="2" name="Picture 1">
            <a:extLst>
              <a:ext uri="{FF2B5EF4-FFF2-40B4-BE49-F238E27FC236}">
                <a16:creationId xmlns:a16="http://schemas.microsoft.com/office/drawing/2014/main" id="{CA991702-EA46-CD3A-3827-E39666E26945}"/>
              </a:ext>
            </a:extLst>
          </p:cNvPr>
          <p:cNvPicPr>
            <a:picLocks noChangeAspect="1"/>
          </p:cNvPicPr>
          <p:nvPr/>
        </p:nvPicPr>
        <p:blipFill>
          <a:blip r:embed="rId3"/>
          <a:stretch>
            <a:fillRect/>
          </a:stretch>
        </p:blipFill>
        <p:spPr>
          <a:xfrm>
            <a:off x="13007951" y="10276"/>
            <a:ext cx="1546017" cy="1088708"/>
          </a:xfrm>
          <a:prstGeom prst="rect">
            <a:avLst/>
          </a:prstGeom>
        </p:spPr>
      </p:pic>
    </p:spTree>
    <p:extLst>
      <p:ext uri="{BB962C8B-B14F-4D97-AF65-F5344CB8AC3E}">
        <p14:creationId xmlns:p14="http://schemas.microsoft.com/office/powerpoint/2010/main" val="1458505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A086B7-CDCB-373E-4FE4-FF363861C05F}"/>
              </a:ext>
            </a:extLst>
          </p:cNvPr>
          <p:cNvSpPr/>
          <p:nvPr/>
        </p:nvSpPr>
        <p:spPr>
          <a:xfrm>
            <a:off x="12555020" y="7592602"/>
            <a:ext cx="1931542" cy="554805"/>
          </a:xfrm>
          <a:prstGeom prst="rect">
            <a:avLst/>
          </a:prstGeom>
          <a:solidFill>
            <a:srgbClr val="FFF8F0"/>
          </a:solidFill>
          <a:ln>
            <a:solidFill>
              <a:srgbClr val="FFF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0">
            <a:extLst>
              <a:ext uri="{FF2B5EF4-FFF2-40B4-BE49-F238E27FC236}">
                <a16:creationId xmlns:a16="http://schemas.microsoft.com/office/drawing/2014/main" id="{87FAA70C-EF94-58E8-1ECB-D9A7B14E860A}"/>
              </a:ext>
            </a:extLst>
          </p:cNvPr>
          <p:cNvSpPr/>
          <p:nvPr/>
        </p:nvSpPr>
        <p:spPr>
          <a:xfrm>
            <a:off x="4039084" y="3458864"/>
            <a:ext cx="6552232" cy="1311872"/>
          </a:xfrm>
          <a:prstGeom prst="rect">
            <a:avLst/>
          </a:prstGeom>
          <a:noFill/>
          <a:ln/>
        </p:spPr>
        <p:txBody>
          <a:bodyPr wrap="none" lIns="0" tIns="0" rIns="0" bIns="0" rtlCol="0" anchor="t"/>
          <a:lstStyle/>
          <a:p>
            <a:pPr marL="0" indent="0" algn="l">
              <a:lnSpc>
                <a:spcPts val="5550"/>
              </a:lnSpc>
              <a:buNone/>
            </a:pPr>
            <a:r>
              <a:rPr lang="en-US" sz="8000" dirty="0">
                <a:solidFill>
                  <a:srgbClr val="2C3F42"/>
                </a:solidFill>
                <a:latin typeface="Bitter Medium" pitchFamily="34" charset="0"/>
                <a:ea typeface="Bitter Medium" pitchFamily="34" charset="-122"/>
                <a:cs typeface="Bitter Medium" pitchFamily="34" charset="-120"/>
              </a:rPr>
              <a:t>THANK YOU</a:t>
            </a:r>
            <a:endParaRPr lang="en-US" sz="8000" dirty="0"/>
          </a:p>
        </p:txBody>
      </p:sp>
      <p:pic>
        <p:nvPicPr>
          <p:cNvPr id="4" name="Picture 3">
            <a:extLst>
              <a:ext uri="{FF2B5EF4-FFF2-40B4-BE49-F238E27FC236}">
                <a16:creationId xmlns:a16="http://schemas.microsoft.com/office/drawing/2014/main" id="{E9877A3C-FD42-34D8-ECCC-9C0709C304E7}"/>
              </a:ext>
            </a:extLst>
          </p:cNvPr>
          <p:cNvPicPr>
            <a:picLocks noChangeAspect="1"/>
          </p:cNvPicPr>
          <p:nvPr/>
        </p:nvPicPr>
        <p:blipFill>
          <a:blip r:embed="rId2"/>
          <a:stretch>
            <a:fillRect/>
          </a:stretch>
        </p:blipFill>
        <p:spPr>
          <a:xfrm>
            <a:off x="13007951" y="10276"/>
            <a:ext cx="1546017" cy="1088708"/>
          </a:xfrm>
          <a:prstGeom prst="rect">
            <a:avLst/>
          </a:prstGeom>
        </p:spPr>
      </p:pic>
    </p:spTree>
    <p:extLst>
      <p:ext uri="{BB962C8B-B14F-4D97-AF65-F5344CB8AC3E}">
        <p14:creationId xmlns:p14="http://schemas.microsoft.com/office/powerpoint/2010/main" val="1652575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TotalTime>
  <Words>844</Words>
  <Application>Microsoft Office PowerPoint</Application>
  <PresentationFormat>Custom</PresentationFormat>
  <Paragraphs>107</Paragraphs>
  <Slides>16</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Open Sans</vt:lpstr>
      <vt:lpstr>Arial</vt:lpstr>
      <vt:lpstr>Bitter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Haridev Mavilattu</dc:creator>
  <cp:lastModifiedBy>Haridev Mavilattu</cp:lastModifiedBy>
  <cp:revision>3</cp:revision>
  <dcterms:created xsi:type="dcterms:W3CDTF">2026-04-30T04:18:21Z</dcterms:created>
  <dcterms:modified xsi:type="dcterms:W3CDTF">2026-05-04T18:45:14Z</dcterms:modified>
</cp:coreProperties>
</file>